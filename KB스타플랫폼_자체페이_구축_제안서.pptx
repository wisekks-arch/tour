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9BE8E-3AC6-F90E-792E-3DA5A9962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C54B73-BE52-CF09-C296-27185589F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94C1FA-5B2E-CB49-0EA7-E4AB2059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C8F92F-49A5-B700-EF67-326020ED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0BF1C5-46C2-B29A-ADD0-143A2635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95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EFF8E-ABA5-8F0A-23F5-76F0CDDA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42BF8B-4A3E-1E78-2218-51D46357A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690F56-964A-13FA-9332-78DB2666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D1B370-4236-8EF5-977E-78DF4B62E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F79B87-CCEE-3BFE-F9C2-ED65CD2A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73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191C7-EB2C-23E1-25E7-2145241E2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E08305-A879-A16C-8716-0B5478D54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905C8-948F-56CD-14DC-7FFF73DE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048AB2-785C-15EB-2C59-1C0AA38F7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7A6071-657D-833C-AED8-C817743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92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0C1B2-5727-1E9A-290C-A9DE32F86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586057-93AA-AC46-2433-8EEC4BED3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CCB739-7157-36B5-61AF-83ADFE4B3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EFDE12-37A4-EA07-0EAB-ACC7072D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491F32-795B-EF55-C8B6-0522A2BC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7C77A2-3F25-4690-18AF-6D09EE6D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67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5D932-131E-B2F2-E7F3-9023FBFD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1F5A1-3D4D-DE35-C16B-01124AE50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190022-2086-E81A-389D-FA2EC490C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FDD6F9-52E2-DFB6-132D-C5C7D63B8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9066E-8EA0-795A-58DA-A7E1DB16F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4338A9-994F-250A-5949-8CE2AE37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954AE0-B77A-8275-0C15-2A97A9F2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1E8A64-94B0-576D-FBEC-002F1FD9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253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67B72D-423D-AF10-9EDA-7C5E3FB3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C8001B-7F7F-B36E-DA57-699A696E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694EE0-B928-4346-B18F-35124F79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48585A-004D-75D1-5A9E-BFC353644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7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50E2A5-4719-F38E-55F1-34153670B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CF68AF-65D8-675C-59FE-55FA88C7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6B5AD5-33C5-6660-A808-61265495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96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47738-609F-BF23-D910-8D1DCD790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2BE403-0356-FF55-7B6B-6BC1047E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0D4ED4-D6EE-4FB1-2ED7-AEB220B8E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3C2E3B-3DF3-277D-C2C5-01BB1AA5A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D1716C-EB20-02D0-22E8-966CCBE10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C3A7FB-1216-4ED6-E573-73612595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3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EF7F2-6639-5468-264A-E05117289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23530C-0D82-DC4A-4829-5B6939743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54FE68-B755-0AA5-B60F-629F6BE14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DA4467-F6AE-9A71-2F18-63088BA9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028D0A-B193-B1F4-E40A-3F4590EA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3786CE-E133-E3BB-218F-FD6EF254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61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49DA2-C917-F5C3-01E1-ED79181E1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6437F5-D949-BF9C-8DDF-61E2BDFF7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03A539-3710-0ACA-3087-8123FD64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06F29-C9EE-471F-F09D-081F606C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FA1FD8-D878-B10C-1D18-FA6F6B9E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15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E99395-70A1-4B50-C35C-BCA2E07B1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C0DE66-D2A8-F676-FA66-DEB6B0C22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F78B66-A303-D980-5D4B-D77DB6AE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D8C14D-7835-789B-485E-9B1724AE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0363F5-4BF5-BE59-031E-AEE2CD05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17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603FB9-6057-8885-FCEC-16020C4E0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03C871-9AD7-C824-8873-7CD4C6300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1C64DE-1D42-3672-8F29-51183B3A5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858C9-2765-4DFC-97AE-9E8806BED4F7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3D2291-55E0-5061-E141-BEC41E722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E549A2-5112-1824-959E-93B8FA605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D1DF-F927-47E0-B1CE-2BCFB928D9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00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3A1EAEC-028F-EFD6-0B1C-99C2E5AFDE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0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877A0-5DC3-6571-9FCA-0FDDEF506007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8E84FE-64B8-005E-A683-96901B3067B0}"/>
              </a:ext>
            </a:extLst>
          </p:cNvPr>
          <p:cNvSpPr/>
          <p:nvPr/>
        </p:nvSpPr>
        <p:spPr>
          <a:xfrm>
            <a:off x="889000" y="1333500"/>
            <a:ext cx="2921000" cy="3556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KB FINANCIAL GROUP PROPOSAL</a:t>
            </a:r>
            <a:endParaRPr lang="ko-KR" altLang="en-US" sz="1000" b="1">
              <a:solidFill>
                <a:srgbClr val="FFBC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67371-8C3B-0233-BF1D-4C535D586DE6}"/>
              </a:ext>
            </a:extLst>
          </p:cNvPr>
          <p:cNvSpPr txBox="1"/>
          <p:nvPr/>
        </p:nvSpPr>
        <p:spPr>
          <a:xfrm>
            <a:off x="889000" y="1841500"/>
            <a:ext cx="10414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3400" b="1">
                <a:solidFill>
                  <a:srgbClr val="FFFFFF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3400" b="1">
                <a:solidFill>
                  <a:srgbClr val="FFFFFF"/>
                </a:solidFill>
                <a:latin typeface="Malgun Gothic" panose="020B0503020000020004" pitchFamily="50" charset="-127"/>
              </a:rPr>
              <a:t>스타플랫폼 자체페이</a:t>
            </a:r>
          </a:p>
          <a:p>
            <a:r>
              <a:rPr lang="ko-KR" altLang="en-US" sz="3400" b="1">
                <a:solidFill>
                  <a:srgbClr val="FFFFFF"/>
                </a:solidFill>
                <a:latin typeface="Malgun Gothic" panose="020B0503020000020004" pitchFamily="50" charset="-127"/>
              </a:rPr>
              <a:t>서비스 구축 사업 제안서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C37DCE-99D8-84D6-662B-AFED9D788335}"/>
              </a:ext>
            </a:extLst>
          </p:cNvPr>
          <p:cNvSpPr txBox="1"/>
          <p:nvPr/>
        </p:nvSpPr>
        <p:spPr>
          <a:xfrm>
            <a:off x="889000" y="35560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400">
                <a:solidFill>
                  <a:srgbClr val="FFBC00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1400">
                <a:solidFill>
                  <a:srgbClr val="FFBC00"/>
                </a:solidFill>
                <a:latin typeface="Malgun Gothic" panose="020B0503020000020004" pitchFamily="50" charset="-127"/>
              </a:rPr>
              <a:t>금융 생태계를 연결하는 안전하고 편리한 차세대 계좌 기반 간편결제 플랫폼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311A77A-D9A0-6947-9EC9-260F1F7B97FF}"/>
              </a:ext>
            </a:extLst>
          </p:cNvPr>
          <p:cNvSpPr/>
          <p:nvPr/>
        </p:nvSpPr>
        <p:spPr>
          <a:xfrm>
            <a:off x="889000" y="4953000"/>
            <a:ext cx="10414000" cy="9525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rgbClr val="FFFFFF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200">
                <a:solidFill>
                  <a:srgbClr val="FFFFFF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1200">
                <a:solidFill>
                  <a:srgbClr val="FFFFFF"/>
                </a:solidFill>
                <a:latin typeface="Malgun Gothic" panose="020B0503020000020004" pitchFamily="50" charset="-127"/>
              </a:rPr>
              <a:t>스타플랫폼 자체페이 구축 사업        ○○주식회사        </a:t>
            </a:r>
            <a:r>
              <a:rPr lang="en-US" altLang="ko-KR" sz="1200">
                <a:solidFill>
                  <a:srgbClr val="FFFFFF"/>
                </a:solidFill>
                <a:latin typeface="Malgun Gothic" panose="020B0503020000020004" pitchFamily="50" charset="-127"/>
              </a:rPr>
              <a:t>2026. 06</a:t>
            </a:r>
            <a:endParaRPr lang="ko-KR" altLang="en-US" sz="12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94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A9AF6B7-9DFD-EB27-9911-B1AEDF77DB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2136A8-A1EB-9269-16D3-2DF98ACDB7E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50D3A2D-6E1A-6DF9-64E1-F9F27CF61214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DBB6E-09B6-DAFA-3C39-480FF8D96FA2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제안서 목차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(Table of Contents)</a:t>
            </a:r>
            <a:endParaRPr lang="ko-KR" altLang="en-US" sz="1700" b="1">
              <a:solidFill>
                <a:srgbClr val="0F17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7B6DC38-AFE4-28A4-5159-1BBDFFDF56A9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본 제안서는 사업이해도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아키텍처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보안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관리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기대효과 등 총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6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개 부문으로 구성되어 있습니다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6EF7DE-1FE2-3575-659B-8804B0032A00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92774C-B643-8D38-B6A1-A16150641246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27AE8-0342-FF12-D1E3-DC7024F8B482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2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105687-760D-33BB-D836-675B31E3702A}"/>
              </a:ext>
            </a:extLst>
          </p:cNvPr>
          <p:cNvSpPr/>
          <p:nvPr/>
        </p:nvSpPr>
        <p:spPr>
          <a:xfrm>
            <a:off x="508000" y="1193800"/>
            <a:ext cx="3657600" cy="236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78744E6-BCF1-5E32-C9E0-E96F6A3428D2}"/>
              </a:ext>
            </a:extLst>
          </p:cNvPr>
          <p:cNvSpPr/>
          <p:nvPr/>
        </p:nvSpPr>
        <p:spPr>
          <a:xfrm>
            <a:off x="508000" y="1193800"/>
            <a:ext cx="36576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[I] I.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제안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7455CC-1F21-299F-A801-8120D7AD733C}"/>
              </a:ext>
            </a:extLst>
          </p:cNvPr>
          <p:cNvSpPr txBox="1"/>
          <p:nvPr/>
        </p:nvSpPr>
        <p:spPr>
          <a:xfrm>
            <a:off x="609600" y="1676400"/>
            <a:ext cx="34544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1.1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사업 추진 배경 및 필요성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1.2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사업 목적 및 제안 요약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1.3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제안사 핵심 역량 및 강점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64E8160-DAF3-BC13-478F-7C665BB8EB15}"/>
              </a:ext>
            </a:extLst>
          </p:cNvPr>
          <p:cNvSpPr/>
          <p:nvPr/>
        </p:nvSpPr>
        <p:spPr>
          <a:xfrm>
            <a:off x="4267200" y="1193800"/>
            <a:ext cx="3657600" cy="236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9EA001C-65C7-888C-A503-6FDE717B71AB}"/>
              </a:ext>
            </a:extLst>
          </p:cNvPr>
          <p:cNvSpPr/>
          <p:nvPr/>
        </p:nvSpPr>
        <p:spPr>
          <a:xfrm>
            <a:off x="4267200" y="1193800"/>
            <a:ext cx="36576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[II] II.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사업 및 업무 이해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135E52-3862-4841-99EA-266C1CF572E0}"/>
              </a:ext>
            </a:extLst>
          </p:cNvPr>
          <p:cNvSpPr txBox="1"/>
          <p:nvPr/>
        </p:nvSpPr>
        <p:spPr>
          <a:xfrm>
            <a:off x="4368800" y="1676400"/>
            <a:ext cx="34544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2.1 End-to-End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전체 서비스 흐름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2.2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본인인증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KYC 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계좌등록 요건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2.3 QR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VAN·POS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083A674-A055-56EB-FCC1-23B3996340D2}"/>
              </a:ext>
            </a:extLst>
          </p:cNvPr>
          <p:cNvSpPr/>
          <p:nvPr/>
        </p:nvSpPr>
        <p:spPr>
          <a:xfrm>
            <a:off x="8026400" y="1193800"/>
            <a:ext cx="3657600" cy="236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8BC6F4C-4923-34F8-27B4-4315284766E1}"/>
              </a:ext>
            </a:extLst>
          </p:cNvPr>
          <p:cNvSpPr/>
          <p:nvPr/>
        </p:nvSpPr>
        <p:spPr>
          <a:xfrm>
            <a:off x="8026400" y="1193800"/>
            <a:ext cx="36576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[III] III.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시스템 아키텍처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662407-9AAC-ECC6-1DFF-05A313CEFB95}"/>
              </a:ext>
            </a:extLst>
          </p:cNvPr>
          <p:cNvSpPr txBox="1"/>
          <p:nvPr/>
        </p:nvSpPr>
        <p:spPr>
          <a:xfrm>
            <a:off x="8128000" y="1676400"/>
            <a:ext cx="34544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3.1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목표 시스템 아키텍처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(TO-BE)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3.2 MSA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기반 서비스 분할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Gateway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3.3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대내외 연계망 및 무중단 인프라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F77ED73-64FB-E0E6-F4E4-40C34BE78D99}"/>
              </a:ext>
            </a:extLst>
          </p:cNvPr>
          <p:cNvSpPr/>
          <p:nvPr/>
        </p:nvSpPr>
        <p:spPr>
          <a:xfrm>
            <a:off x="508000" y="3708400"/>
            <a:ext cx="3657600" cy="236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D754441-0D6E-9D01-C43D-2AA42C359687}"/>
              </a:ext>
            </a:extLst>
          </p:cNvPr>
          <p:cNvSpPr/>
          <p:nvPr/>
        </p:nvSpPr>
        <p:spPr>
          <a:xfrm>
            <a:off x="508000" y="3708400"/>
            <a:ext cx="36576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[IV] IV.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보안 및 규제 준수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8F171E-42A4-0EA1-AC85-D4AAA56FA0DB}"/>
              </a:ext>
            </a:extLst>
          </p:cNvPr>
          <p:cNvSpPr txBox="1"/>
          <p:nvPr/>
        </p:nvSpPr>
        <p:spPr>
          <a:xfrm>
            <a:off x="609600" y="4191000"/>
            <a:ext cx="34544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4.1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금융보안 거버넌스 및 암호화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4.2 FDS(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이상거래탐지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연계 체계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4.3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전자금융거래법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AML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대응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7386763-5A70-47FB-077A-C32449DDA981}"/>
              </a:ext>
            </a:extLst>
          </p:cNvPr>
          <p:cNvSpPr/>
          <p:nvPr/>
        </p:nvSpPr>
        <p:spPr>
          <a:xfrm>
            <a:off x="4267200" y="3708400"/>
            <a:ext cx="3657600" cy="236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A7A129D-8152-C25A-69BE-CD6B37947573}"/>
              </a:ext>
            </a:extLst>
          </p:cNvPr>
          <p:cNvSpPr/>
          <p:nvPr/>
        </p:nvSpPr>
        <p:spPr>
          <a:xfrm>
            <a:off x="4267200" y="3708400"/>
            <a:ext cx="36576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[V] V.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사업 관리 및 품질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2A135D-F570-0706-A6E7-6F494416DB66}"/>
              </a:ext>
            </a:extLst>
          </p:cNvPr>
          <p:cNvSpPr txBox="1"/>
          <p:nvPr/>
        </p:nvSpPr>
        <p:spPr>
          <a:xfrm>
            <a:off x="4368800" y="4191000"/>
            <a:ext cx="34544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5.1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마스터 추진 일정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(7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개월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WBS)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5.2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전담 수행 조직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R&amp;R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5.3 4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단계 품질검증 및 리스크 관리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960C999-8C59-6D1C-BABD-4EB45CA70AB9}"/>
              </a:ext>
            </a:extLst>
          </p:cNvPr>
          <p:cNvSpPr/>
          <p:nvPr/>
        </p:nvSpPr>
        <p:spPr>
          <a:xfrm>
            <a:off x="8026400" y="3708400"/>
            <a:ext cx="3657600" cy="236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D348841-1195-3F0A-DCB2-A58430BA743B}"/>
              </a:ext>
            </a:extLst>
          </p:cNvPr>
          <p:cNvSpPr/>
          <p:nvPr/>
        </p:nvSpPr>
        <p:spPr>
          <a:xfrm>
            <a:off x="8026400" y="3708400"/>
            <a:ext cx="36576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[VI] VI.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차별화 및 기대효과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B4F48B-C486-0D7C-08CE-54B1E2E093F9}"/>
              </a:ext>
            </a:extLst>
          </p:cNvPr>
          <p:cNvSpPr txBox="1"/>
          <p:nvPr/>
        </p:nvSpPr>
        <p:spPr>
          <a:xfrm>
            <a:off x="8128000" y="4191000"/>
            <a:ext cx="34544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6.1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본 제안의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대 핵심 차별화 전략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6.2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정량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정성적 기대효과 및 가치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6.3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미래 디지털 금융 확장 로드맵</a:t>
            </a:r>
          </a:p>
        </p:txBody>
      </p:sp>
    </p:spTree>
    <p:extLst>
      <p:ext uri="{BB962C8B-B14F-4D97-AF65-F5344CB8AC3E}">
        <p14:creationId xmlns:p14="http://schemas.microsoft.com/office/powerpoint/2010/main" val="397434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E4E408-CE28-60ED-B2EA-5C80B82A76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6E10EA-ACDF-1664-B6CC-FD18ED2C07E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F1F871B-CA5A-24C3-CB96-FC851D8F2889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제안 개요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94FAB-20A3-1A90-256B-3FB4E5DB3BA9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1.1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사업 추진 배경 및 필요성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4CBC875-3ED1-AB37-CAE0-39C10E06249B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간편결제 시장 확산에 대응하여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자체 결제수단을 확보하고 수수료 절감 및 금융 데이터를 내재화합니다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1648BD2-42AC-F251-6066-7746B34ED070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744C3E-6136-69DC-458C-F87D73358C5C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2B8F1-FA1E-608C-8998-EE44B0631644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3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D9AA9CD-0BF7-873E-98AB-9330B5D38BCE}"/>
              </a:ext>
            </a:extLst>
          </p:cNvPr>
          <p:cNvSpPr/>
          <p:nvPr/>
        </p:nvSpPr>
        <p:spPr>
          <a:xfrm>
            <a:off x="5080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42C0554-BD8B-E30D-5394-785B32754705}"/>
              </a:ext>
            </a:extLst>
          </p:cNvPr>
          <p:cNvSpPr/>
          <p:nvPr/>
        </p:nvSpPr>
        <p:spPr>
          <a:xfrm>
            <a:off x="508000" y="1193800"/>
            <a:ext cx="36195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간편결제 시장 환경 분석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F5F5E9-ACAA-6ABB-92B9-D5735AE3EA6E}"/>
              </a:ext>
            </a:extLst>
          </p:cNvPr>
          <p:cNvSpPr txBox="1"/>
          <p:nvPr/>
        </p:nvSpPr>
        <p:spPr>
          <a:xfrm>
            <a:off x="609600" y="1676400"/>
            <a:ext cx="34163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[1]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빅테크 중심 간편결제 시장 과점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외부 결제수단 의존도 심화 및 종속성 우려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카드 기반 결제에 따른 수수료 원가 부담 가중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[2]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계좌 기반 직불결제 확산 추세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오픈뱅킹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마이데이터 활성화로 계좌결제 보편화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즉시 출금 방식을 통한 수수료 획기적 절감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9DFD3F1-DC06-6804-C853-CF0274982C1F}"/>
              </a:ext>
            </a:extLst>
          </p:cNvPr>
          <p:cNvSpPr/>
          <p:nvPr/>
        </p:nvSpPr>
        <p:spPr>
          <a:xfrm>
            <a:off x="42799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B6B9564-EA93-1F18-D978-E43831E22E95}"/>
              </a:ext>
            </a:extLst>
          </p:cNvPr>
          <p:cNvSpPr/>
          <p:nvPr/>
        </p:nvSpPr>
        <p:spPr>
          <a:xfrm>
            <a:off x="4279900" y="1193800"/>
            <a:ext cx="36195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의 전략적 당면 과제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A08D75-94A4-66D5-9E7E-73A465D5B06A}"/>
              </a:ext>
            </a:extLst>
          </p:cNvPr>
          <p:cNvSpPr txBox="1"/>
          <p:nvPr/>
        </p:nvSpPr>
        <p:spPr>
          <a:xfrm>
            <a:off x="4381500" y="1676400"/>
            <a:ext cx="34163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[1]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고객 결제 여정의 단절 해소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스타플랫폼 내 외부 페이 이탈 방지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플랫폼 내 원스톱 계좌 결제 환경 필수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[2]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데이터 자산화 필요성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고객 소비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거래 패턴 데이터 직접 확보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맞춤형 금융 상품 추천 및 교차 판매 연계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774F6D-4C06-5B6E-CC8D-99F3BD42D18D}"/>
              </a:ext>
            </a:extLst>
          </p:cNvPr>
          <p:cNvSpPr/>
          <p:nvPr/>
        </p:nvSpPr>
        <p:spPr>
          <a:xfrm>
            <a:off x="80518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59491AC-BDDB-4465-17ED-DA18EC8EB022}"/>
              </a:ext>
            </a:extLst>
          </p:cNvPr>
          <p:cNvSpPr/>
          <p:nvPr/>
        </p:nvSpPr>
        <p:spPr>
          <a:xfrm>
            <a:off x="8051800" y="1193800"/>
            <a:ext cx="36195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본 사업의 핵심 추진 목적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A88F8-A359-045D-8EA5-1AA0AA8C76F5}"/>
              </a:ext>
            </a:extLst>
          </p:cNvPr>
          <p:cNvSpPr txBox="1"/>
          <p:nvPr/>
        </p:nvSpPr>
        <p:spPr>
          <a:xfrm>
            <a:off x="8153400" y="1676400"/>
            <a:ext cx="3416300" cy="1491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[1] KB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스타플랫폼 자체페이 구축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- 30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 내 간편 계좌등록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 컷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[2]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생태계 원가 절감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직불 체계 기반 가맹점 및 플랫폼 수수료 절감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[3]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강력한 고객 락인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(Lock-in)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형성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 서비스와의 유기적 결합으로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MAU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극대화</a:t>
            </a:r>
          </a:p>
        </p:txBody>
      </p:sp>
    </p:spTree>
    <p:extLst>
      <p:ext uri="{BB962C8B-B14F-4D97-AF65-F5344CB8AC3E}">
        <p14:creationId xmlns:p14="http://schemas.microsoft.com/office/powerpoint/2010/main" val="144707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10B58A2-4DD4-A7C3-7FF0-3A9A82F3B5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C6DDA9-FB10-E374-8A9F-1BB0A91DB0F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84D705E-E055-6DC8-8998-555C7034DE94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제안 개요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120617-6366-4AAB-E226-F79D4F7A1203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1.2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제안사 핵심 역량 및 사업 성공 전략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29DE006-9EF0-6596-4DBC-6018B14203A8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다수의 금융권 대형 페이 구축 실적과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MSA/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클라우드 전문성을 바탕으로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100%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무결점 오픈을 보장합니다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D340985-1BE0-3ACA-3907-DE2C462B7547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702FA0-B656-A924-7415-E6125786067B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2F03B5-4BEF-90C6-825D-ECDEB1D2E7AA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6F7A1E2-46A4-F78A-D4CE-2E84B1A838B7}"/>
              </a:ext>
            </a:extLst>
          </p:cNvPr>
          <p:cNvSpPr/>
          <p:nvPr/>
        </p:nvSpPr>
        <p:spPr>
          <a:xfrm>
            <a:off x="508000" y="11938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EB5C16C-0F16-00F4-F0C9-236C1C21C71C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금융권 자체페이 구축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100%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성공 레퍼런스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D2D81-72BD-FE3A-683D-DB79D31CA01E}"/>
              </a:ext>
            </a:extLst>
          </p:cNvPr>
          <p:cNvSpPr txBox="1"/>
          <p:nvPr/>
        </p:nvSpPr>
        <p:spPr>
          <a:xfrm>
            <a:off x="609600" y="16764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시중은행 및 대형 핀테크 자체 간편결제 구축 실적 보유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계정계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FDS,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대행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(VAN)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연동 경험이 풍부한 특급 인력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전자금융거래법 규제 및 금융보안원 보안성 심의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100%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통과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EE2B22-8C4D-67D2-03DD-C07281AFEA64}"/>
              </a:ext>
            </a:extLst>
          </p:cNvPr>
          <p:cNvSpPr/>
          <p:nvPr/>
        </p:nvSpPr>
        <p:spPr>
          <a:xfrm>
            <a:off x="6197600" y="11938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44FB5D0-C001-0818-72DA-4E13A87D68D0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대용량 트래픽 초고속 처리 아키텍처 노하우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6477A-71F6-F18B-AA57-0E8A5111CD13}"/>
              </a:ext>
            </a:extLst>
          </p:cNvPr>
          <p:cNvSpPr txBox="1"/>
          <p:nvPr/>
        </p:nvSpPr>
        <p:spPr>
          <a:xfrm>
            <a:off x="6299200" y="16764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피크 시 초당 수만 건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(TPS)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트랜잭션 완벽 분산 처리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Active-Active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이중화 및 마이크로서비스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최적 설계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24x365 99.999%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무중단 가용성을 보장하는 검증된 프레임워크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9791046-5C19-C3A9-FA92-5E3303C24BF8}"/>
              </a:ext>
            </a:extLst>
          </p:cNvPr>
          <p:cNvSpPr/>
          <p:nvPr/>
        </p:nvSpPr>
        <p:spPr>
          <a:xfrm>
            <a:off x="508000" y="37846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B452527-07BF-D211-48C4-3A6D86255245}"/>
              </a:ext>
            </a:extLst>
          </p:cNvPr>
          <p:cNvSpPr/>
          <p:nvPr/>
        </p:nvSpPr>
        <p:spPr>
          <a:xfrm>
            <a:off x="508000" y="3784600"/>
            <a:ext cx="5486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금융 수준의 철저한 전방위 보안 체계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4BF2D6-9D71-B13E-DB1C-9DF25053C6A4}"/>
              </a:ext>
            </a:extLst>
          </p:cNvPr>
          <p:cNvSpPr txBox="1"/>
          <p:nvPr/>
        </p:nvSpPr>
        <p:spPr>
          <a:xfrm>
            <a:off x="609600" y="42672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구간 암호화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(TLS 1.3)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및 민감정보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AES-256 / SHA-256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저장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실시간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FDS(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이상거래탐지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연동을 통한 부정 결제 사전 차단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모의해킹 및 정적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동적 소스코드 취약점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0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건화 보증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33811CF-2CC2-26D8-9F1D-D7D4C2BEEF57}"/>
              </a:ext>
            </a:extLst>
          </p:cNvPr>
          <p:cNvSpPr/>
          <p:nvPr/>
        </p:nvSpPr>
        <p:spPr>
          <a:xfrm>
            <a:off x="6197600" y="37846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55787DD-EE19-FF24-83DE-5FD904947CCD}"/>
              </a:ext>
            </a:extLst>
          </p:cNvPr>
          <p:cNvSpPr/>
          <p:nvPr/>
        </p:nvSpPr>
        <p:spPr>
          <a:xfrm>
            <a:off x="6197600" y="3784600"/>
            <a:ext cx="5486400" cy="406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책임 관리 및 사후 안정화 보증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436DBE-A314-0BB9-7420-68CE77B27152}"/>
              </a:ext>
            </a:extLst>
          </p:cNvPr>
          <p:cNvSpPr txBox="1"/>
          <p:nvPr/>
        </p:nvSpPr>
        <p:spPr>
          <a:xfrm>
            <a:off x="6299200" y="42672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금융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SI 10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년 이상 경력의 전담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PM/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아키텍트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100%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상주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오픈 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단계 극한 테스트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단위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통합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성능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TPS/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보안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안정적인 서비스 전환 및 오픈 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주간 비상 집중 지원 체계</a:t>
            </a:r>
          </a:p>
        </p:txBody>
      </p:sp>
    </p:spTree>
    <p:extLst>
      <p:ext uri="{BB962C8B-B14F-4D97-AF65-F5344CB8AC3E}">
        <p14:creationId xmlns:p14="http://schemas.microsoft.com/office/powerpoint/2010/main" val="4091952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E8B311B-AA81-2F6D-BE4B-00846B9106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C2D3C2A-2D49-0117-A0B2-0E1494C1DE5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94DCBD8-6B37-A940-5967-5109BB9C9F23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업무 이해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B6217-21C0-905E-17D8-B991587C61A0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2.1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전체 서비스 프로세스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(End-to-End Flow)</a:t>
            </a:r>
            <a:endParaRPr lang="ko-KR" altLang="en-US" sz="1700" b="1">
              <a:solidFill>
                <a:srgbClr val="0F17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ACD338A-9567-F0A7-70AC-9073C058981B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가입부터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KYC,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계좌등록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QR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결제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승인 및 정산까지 고객과 가맹점 모두에게 최적화된 결제 여정을 제공합니다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4393ACC-EAAD-81D4-9B72-D5DDFF878E17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6ACDE9-55E4-BA6D-9334-F24F067A92F4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CCE89-A70A-7248-4311-F3C2C50685AD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5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677121C-5FF5-3EBF-C1EE-B47E839E8C17}"/>
              </a:ext>
            </a:extLst>
          </p:cNvPr>
          <p:cNvSpPr/>
          <p:nvPr/>
        </p:nvSpPr>
        <p:spPr>
          <a:xfrm>
            <a:off x="5080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DC6E25E-FB1A-F2C5-E52D-4EF4BEA6F237}"/>
              </a:ext>
            </a:extLst>
          </p:cNvPr>
          <p:cNvSpPr/>
          <p:nvPr/>
        </p:nvSpPr>
        <p:spPr>
          <a:xfrm>
            <a:off x="508000" y="1193800"/>
            <a:ext cx="2692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가입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본인인증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F5B09-A168-CC88-376F-B44B84A62E17}"/>
              </a:ext>
            </a:extLst>
          </p:cNvPr>
          <p:cNvSpPr txBox="1"/>
          <p:nvPr/>
        </p:nvSpPr>
        <p:spPr>
          <a:xfrm>
            <a:off x="6096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스타플랫폼 가입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휴대폰 본인확인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전자약관 동의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간편비밀번호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(6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자리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생체인증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(FIDO)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등록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▶ 보안 세션 생성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42D5151-ED9D-6C35-C867-512B13F3CCDB}"/>
              </a:ext>
            </a:extLst>
          </p:cNvPr>
          <p:cNvSpPr/>
          <p:nvPr/>
        </p:nvSpPr>
        <p:spPr>
          <a:xfrm>
            <a:off x="33274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488EF69-AC00-5AB4-352E-463087D106D3}"/>
              </a:ext>
            </a:extLst>
          </p:cNvPr>
          <p:cNvSpPr/>
          <p:nvPr/>
        </p:nvSpPr>
        <p:spPr>
          <a:xfrm>
            <a:off x="3327400" y="1193800"/>
            <a:ext cx="2692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2. KYC / CDD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C00D39-04FF-DCAB-AEBA-CCD4031FF643}"/>
              </a:ext>
            </a:extLst>
          </p:cNvPr>
          <p:cNvSpPr txBox="1"/>
          <p:nvPr/>
        </p:nvSpPr>
        <p:spPr>
          <a:xfrm>
            <a:off x="34290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실명확인 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고객확인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(CDD)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수행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AML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블랙리스트 검증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전자금융거래법 준수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고객정보 암호화 저장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▶ 거래 적격 검증 완료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4C3F95-4388-52AD-9143-46DD4286808D}"/>
              </a:ext>
            </a:extLst>
          </p:cNvPr>
          <p:cNvSpPr/>
          <p:nvPr/>
        </p:nvSpPr>
        <p:spPr>
          <a:xfrm>
            <a:off x="61468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E12B30A-7628-911E-1977-F0C2DBF9CAFC}"/>
              </a:ext>
            </a:extLst>
          </p:cNvPr>
          <p:cNvSpPr/>
          <p:nvPr/>
        </p:nvSpPr>
        <p:spPr>
          <a:xfrm>
            <a:off x="6146800" y="1193800"/>
            <a:ext cx="2692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출금계좌 등록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31AA04-73DB-8224-FFA4-7FF70FFEE32C}"/>
              </a:ext>
            </a:extLst>
          </p:cNvPr>
          <p:cNvSpPr txBox="1"/>
          <p:nvPr/>
        </p:nvSpPr>
        <p:spPr>
          <a:xfrm>
            <a:off x="62484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보유계좌 자동조회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결제 계좌 선택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원 입금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ARS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점유인증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전자출금동의 서명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결제수단 원장 등록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▶ 결제 준비 완료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3B73567-E87D-39E2-4D50-019D175EAE7C}"/>
              </a:ext>
            </a:extLst>
          </p:cNvPr>
          <p:cNvSpPr/>
          <p:nvPr/>
        </p:nvSpPr>
        <p:spPr>
          <a:xfrm>
            <a:off x="89662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C44C427-D454-3054-7A37-634390DABF46}"/>
              </a:ext>
            </a:extLst>
          </p:cNvPr>
          <p:cNvSpPr/>
          <p:nvPr/>
        </p:nvSpPr>
        <p:spPr>
          <a:xfrm>
            <a:off x="8966200" y="1193800"/>
            <a:ext cx="2692400" cy="406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4. QR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결제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정산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C8BB7A-0F69-A365-2E6E-9CD6AF6CC809}"/>
              </a:ext>
            </a:extLst>
          </p:cNvPr>
          <p:cNvSpPr txBox="1"/>
          <p:nvPr/>
        </p:nvSpPr>
        <p:spPr>
          <a:xfrm>
            <a:off x="90678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동적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생성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실시간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PIN/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생체 인증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잔액 출금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 처리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가맹점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결과 응답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익일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(T+1)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자동 정산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대사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▶ 거래 종료 및 알림</a:t>
            </a:r>
          </a:p>
        </p:txBody>
      </p:sp>
    </p:spTree>
    <p:extLst>
      <p:ext uri="{BB962C8B-B14F-4D97-AF65-F5344CB8AC3E}">
        <p14:creationId xmlns:p14="http://schemas.microsoft.com/office/powerpoint/2010/main" val="150244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AEEBBD-8359-AFBC-E799-20D0319448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97E2A8-EC4A-3099-B888-B1BD8C42A5B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F7947CD-C8C1-B261-354A-DD25C240C30D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업무 이해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8BBF9-7E2B-4D5B-621E-45B5262AE982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2.2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회원가입 및 본인인증 프로세스 상세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AF065CB-DB9B-04B6-CCF1-1A523F00AEEB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최소 터치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(Minimal Touch)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가입 절차와 다중 인증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(MFA)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을 적용하여 편의성과 보안을 동시에 확보합니다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7016EC2-1150-DB6E-E2BA-D010CC63CC52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76594F1-185B-7ED6-BBFF-9892BB226CC5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825AF-91A6-FCB7-406D-D9356120C58B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6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472620C-594C-EEF8-A4F8-02EACD08CA88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0E68CC0-DC4C-E1AC-62CB-11D68D2E8F18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주요 기능 및 프로세스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E0E80A-5C8C-0EB1-CBD3-1C9DEA2D3301}"/>
              </a:ext>
            </a:extLst>
          </p:cNvPr>
          <p:cNvSpPr txBox="1"/>
          <p:nvPr/>
        </p:nvSpPr>
        <p:spPr>
          <a:xfrm>
            <a:off x="609600" y="1676400"/>
            <a:ext cx="5283200" cy="23766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스타플랫폼 회원가입 연동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회원 정보와 자연스러운 싱크 및 통합 세션 연계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통신사 휴대폰 본인확인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SMS/PASS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기반 실시간 본인확인 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단말기 고유식별값 점유 검증을 통한 부정 가입 차단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간편비밀번호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(PIN)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및 생체인증 등록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 보안 가이드 준수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6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자리 난수 가상키패드 적용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FIDO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기반 생체인증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지문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/Face ID)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완벽 지원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약관 동의 이력 관리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전자금융거래 기본약관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개인정보 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 제공 동의 버전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6794BAA-0190-CB35-7B53-3F9B335CC0DE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EBAF6CD-2760-9028-3294-F6863A6F321B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설계 특장점 및 사용자 편익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1C498C-C342-18A4-21E6-F2519B53CBAD}"/>
              </a:ext>
            </a:extLst>
          </p:cNvPr>
          <p:cNvSpPr txBox="1"/>
          <p:nvPr/>
        </p:nvSpPr>
        <p:spPr>
          <a:xfrm>
            <a:off x="62992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가입 소요 시간 대폭 단축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(1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분 이내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필수 입력 필드 최소화 및 자동완성 지원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다중 인증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(MFA)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보안 체계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이상 단말 접속 감지 시 추가 본인인증 자동 발동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안전한 키 관리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(KMS/HSM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사용자 비밀번호 일방향 솔트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(Salt)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해시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(SHA-256)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저장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규제 준수 및 감사 증적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약관 동의 일시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IP,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본인인증 결과를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년간 암호화 보관</a:t>
            </a:r>
          </a:p>
        </p:txBody>
      </p:sp>
    </p:spTree>
    <p:extLst>
      <p:ext uri="{BB962C8B-B14F-4D97-AF65-F5344CB8AC3E}">
        <p14:creationId xmlns:p14="http://schemas.microsoft.com/office/powerpoint/2010/main" val="217421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5F6AC4-346C-CB81-74A6-78C8BCFF1D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9E5181-037A-66F2-1F62-9B754165D82F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DBFEE93-59AC-F4F1-3412-B46CCE0814B2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업무 이해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A5CAB-DF11-DFA3-46B7-2435E8527730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2.3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고객확인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(KYC/CDD)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및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AML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연계 상세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64588AB-B50C-37FD-AED6-684D174A3DE2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전자금융거래법 및 자금세탁방지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(AML)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규제를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100%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준수하는 실시간 고객확인 체계를 구현합니다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794DF94-E732-09F1-AEB7-F77A9BC9D18F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35D96A-3860-DD0A-0AE5-DE6BEB64F65F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8BDA8-4EC3-E6FC-800E-9913A03B2E2D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7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7A3E1BA-7482-85DE-3BA6-CCEB41C6AD06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36D78A2-327B-FE8B-7089-53C2D6A3A31D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KYC / CDD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업무 요건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1A043-02B4-8074-60DA-A00024390AD7}"/>
              </a:ext>
            </a:extLst>
          </p:cNvPr>
          <p:cNvSpPr txBox="1"/>
          <p:nvPr/>
        </p:nvSpPr>
        <p:spPr>
          <a:xfrm>
            <a:off x="6096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고객 식별정보 수집 및 실명확인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실명확인 대행기관 연계를 통한 실시간 주민등록번호 검증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비대면 실명확인 가이드라인 충족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고객확인제도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(CDD/EDD)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수행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거래 목적 및 자금 원천 확인 고지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고객 위험 등급 평가 및 고위험 고객 대상 추가확인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(EDD)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자금세탁방지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(AML)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시스템 실시간 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금융정보분석원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(KoFIU)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제재 대상자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PEPs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필터링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가입 시점 및 거래 발생 시점 실시간 대조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5BD4E72-BFDA-F4C4-905F-FBF87AAAC25D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76125BB-8C6F-9A2D-91D7-9FF714ECB9E0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시스템 연계 및 데이터 보호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B9AF42-3203-4682-50B1-A063497CA2F8}"/>
              </a:ext>
            </a:extLst>
          </p:cNvPr>
          <p:cNvSpPr txBox="1"/>
          <p:nvPr/>
        </p:nvSpPr>
        <p:spPr>
          <a:xfrm>
            <a:off x="62992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기간계 고객정보계 실시간 동기화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고객의 경우 기 검증된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KYC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정보 재활용으로 편의성 극대화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개인식별정보 전 구간 암호화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주민등록번호 등 민감정보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AES-256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암호화 및 비식별화 처리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이상 고객 검증 프로세스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AML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이상 매칭 발생 시 자동 가입 제한 및 컴플라이언스 알림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감사 추적성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(Audit Trail)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확보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금융감독원 검사 대응을 위한 전 단계 증적 로그 보관</a:t>
            </a:r>
          </a:p>
        </p:txBody>
      </p:sp>
    </p:spTree>
    <p:extLst>
      <p:ext uri="{BB962C8B-B14F-4D97-AF65-F5344CB8AC3E}">
        <p14:creationId xmlns:p14="http://schemas.microsoft.com/office/powerpoint/2010/main" val="184384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A5D3E5C-CB05-A71C-78D7-88FA523D48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CC710C-0BDB-CD6A-D9CC-1C3FC69CDEE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5748D34-2723-D092-EA6A-98B02BD6CAD0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업무 이해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04127-970F-95BF-3D09-BEEDB45335E2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2.4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출금계좌 등록 및 계좌점유 인증 상세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948760F-0C4A-161D-9C29-08B65CCFD61C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본인 명의 계좌 자동 조회 및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원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/ARS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인증을 통해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30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초 내에 안전한 출금계좌 등록을 완료합니다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C6D1235-9D90-8972-003D-C8B4581FE316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FCABDE-4DDF-2AC4-B90B-50DD741FD739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DAE8E-0690-41DF-6861-4A48DE013600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8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EE19A89-C8C4-B1F7-DD34-317EA09F14EE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30B554D-22CD-EABD-A827-A3E0CDE08BF6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출금계좌 등록 주요 기능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CF81E-B72F-3298-EF63-82636232AEB8}"/>
              </a:ext>
            </a:extLst>
          </p:cNvPr>
          <p:cNvSpPr txBox="1"/>
          <p:nvPr/>
        </p:nvSpPr>
        <p:spPr>
          <a:xfrm>
            <a:off x="6096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본인 명의 계좌 실시간 조회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API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계정계 연계를 통한 유효 출금 가능 계좌 자동 리스트업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고객 직접 계좌번호 입력 부담 제거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다채널 계좌 점유 인증 지원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- 1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원 입금 인증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난수 기반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자리 입금자명 실시간 대조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ARS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음성 인증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등록된 휴대폰으로 전화 인증 병행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전자 출금 동의 처리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전자서명법 준수 공인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사설 전자서명 생성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금융결제원 출금동의 표준 규격 완벽 만족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37E1B4C-EE35-B100-AC16-47698C723FFD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3AEF491-BB9D-B586-A06C-CA83B8F52549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연계 시스템 및 안전 장치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C62A6E-F9FE-AF53-FE38-1AD28FDC8878}"/>
              </a:ext>
            </a:extLst>
          </p:cNvPr>
          <p:cNvSpPr txBox="1"/>
          <p:nvPr/>
        </p:nvSpPr>
        <p:spPr>
          <a:xfrm>
            <a:off x="62992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계좌계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(Core Banking)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계좌 유효 상태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정상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압류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사고계좌 여부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실시간 판별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인증계 및 고객정보계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예금주명과 본인인증 실명 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100%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일치 여부 대조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다중 계좌 등록 및 기본 결제계좌 설정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최대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N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개 계좌 등록 지원 및 대표 출금계좌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On/Off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토글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사고 예방 체계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타인 명의 계좌 등록 시도 시 즉시 세션 차단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FDS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알림</a:t>
            </a:r>
          </a:p>
        </p:txBody>
      </p:sp>
    </p:spTree>
    <p:extLst>
      <p:ext uri="{BB962C8B-B14F-4D97-AF65-F5344CB8AC3E}">
        <p14:creationId xmlns:p14="http://schemas.microsoft.com/office/powerpoint/2010/main" val="2985624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5D76347-7795-66C6-7C8A-073BC81C64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E9472C-9AB1-0AB1-C3D8-1CF3BBEB252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90BF451-7FA9-F0E3-08A7-6C60441C4518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업무 이해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B62B8-C367-5707-CF26-2A573F173463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2.5 QR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결제 서비스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(MPM / CPM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모드 완벽 지원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)</a:t>
            </a:r>
            <a:endParaRPr lang="ko-KR" altLang="en-US" sz="1700" b="1">
              <a:solidFill>
                <a:srgbClr val="0F17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CBCC5F9-75A2-229A-9B82-A33A07DE65DE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고객 제시형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(CPM)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과 가맹점 제시형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(MPM)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방식을 모두 지원하여 온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오프라인 전 영역 결제를 커버합니다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B86A3FC-4448-ED41-9C1D-0EF39DB12DCC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3142D6C-DAF1-C0B2-9AEC-8B3C1F808E4B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2B3D9C-F044-475D-B299-181CB5BCC8F5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9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9EE0616-2BAE-ADA2-D44C-89AE7A9A0403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BDDD569-5899-F5E5-D672-536257CB1ADD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CPM (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고객 제시형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: Customer Presented Mode)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A55EC5-D8C7-A38C-AC4E-A451E24574D5}"/>
              </a:ext>
            </a:extLst>
          </p:cNvPr>
          <p:cNvSpPr txBox="1"/>
          <p:nvPr/>
        </p:nvSpPr>
        <p:spPr>
          <a:xfrm>
            <a:off x="609600" y="1676400"/>
            <a:ext cx="52832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일회용 동적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 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바코드 생성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요청 시 실시간 일회용 토큰 기반 동적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생성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유효시간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(60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~180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자동 만료 및 화면 캡처 방지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스캐너 호환성 극대화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QR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코드와 바코드 동시 디스플레이로 구형 스캐너 지원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초고속 결제 승인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가맹점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스캔 즉시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 이내 승인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Push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알림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598B2FD-7484-FFF0-E1F3-F6C2C94F5D06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1284060-73ED-1A27-70F3-3AAC0A77BB3A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MPM (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가맹점 제시형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: Merchant Presented Mode)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E4FC49-02E8-9F07-22DD-659EBB5AC679}"/>
              </a:ext>
            </a:extLst>
          </p:cNvPr>
          <p:cNvSpPr txBox="1"/>
          <p:nvPr/>
        </p:nvSpPr>
        <p:spPr>
          <a:xfrm>
            <a:off x="6299200" y="1676400"/>
            <a:ext cx="52832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매장 정적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동적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스캔 결제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매장 부착 정적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또는 태블릿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키오스크 동적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스캔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금액 자동 입력 및 가맹점 확인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동적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 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금액 자동 세팅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 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고객 직접 입력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가맹점 상호 및 결제 금액 확인 후 간편비밀번호 승인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가맹점 실시간 알림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가맹점 전용 앱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알림톡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/POS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로 즉시 입금 완료 통보</a:t>
            </a:r>
          </a:p>
        </p:txBody>
      </p:sp>
    </p:spTree>
    <p:extLst>
      <p:ext uri="{BB962C8B-B14F-4D97-AF65-F5344CB8AC3E}">
        <p14:creationId xmlns:p14="http://schemas.microsoft.com/office/powerpoint/2010/main" val="366750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17CF6FE-259C-6DFD-0F49-5B1FC322CB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C6E530-5092-A9A5-8089-31B7F997CE8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3E0AF00-DBA0-C2D4-95D7-78F435323052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업무 이해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6A09B-F743-42E1-BCC8-F0CF3D35A77F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2.6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결제 승인 및 거래 처리 프로세스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357098C-6845-2D0B-A4F6-00742223E572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초당 수만 건의 트래픽을 지연 없이 처리하는 고성능 승인 엔진과 철저한 트랜잭션 무결성을 보장합니다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4228463-1E77-3EDC-F4C4-CF45FD5CCB5C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60F8CB5-1D2A-358D-BC0D-FB8D3A17F703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90DB7-7A0A-EC4F-22FC-ED0308CE71D9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10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F5BADB9-C78D-4E2F-42BC-C1E98155873D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18D97E3-A538-F3FD-C8D3-B640A6ADE117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실시간 승인 트랜잭션 흐름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68DEE-93BA-1228-3156-646EFE4CBF8B}"/>
              </a:ext>
            </a:extLst>
          </p:cNvPr>
          <p:cNvSpPr txBox="1"/>
          <p:nvPr/>
        </p:nvSpPr>
        <p:spPr>
          <a:xfrm>
            <a:off x="609600" y="1676400"/>
            <a:ext cx="5283200" cy="11378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요청 접수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POS/App -&gt; API Gateway -&gt;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 서버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사전 유효성 검증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토큰 검증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세션 확인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가맹점 상태 확인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3. FDS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실시간 심사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부정 결제 스코어링 및 위험도 판별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4.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계정계 출금 요청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실시간 계좌 잔액 차감 및 원장 기록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5.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거래 원장 생성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 번호 발급 및 결제 결과 원장 기록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6.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 결과 응답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1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 이내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응답 및 사용자 앱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Push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발송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8B91D4-75E8-7ABE-5502-8DFD600FA620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7A92209-23BF-5723-C258-747EFE677463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예외 처리 및 무결성 보장 메커니즘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D783DF-434E-613C-E6DA-91ABC6EBFF40}"/>
              </a:ext>
            </a:extLst>
          </p:cNvPr>
          <p:cNvSpPr txBox="1"/>
          <p:nvPr/>
        </p:nvSpPr>
        <p:spPr>
          <a:xfrm>
            <a:off x="62992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취소 및 환불 프로세스 완벽 지원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당일 취소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부분 취소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전액 환불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자동 망취소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(Network Cancel)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2-Phase Commit &amp; Saga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패턴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분산 트랜잭션 환경에서 출금 성공 후 승인 실패 시 자동 롤백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멱등성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(Idempotency)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보장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중복 결제 요청 유입 시 고유 거래키 기반 중복 출금 원천 차단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거래 불일치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0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건화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미완료 트랜잭션에 대한 실시간 자동 복구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(Auto-Recovery)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가동</a:t>
            </a:r>
          </a:p>
        </p:txBody>
      </p:sp>
    </p:spTree>
    <p:extLst>
      <p:ext uri="{BB962C8B-B14F-4D97-AF65-F5344CB8AC3E}">
        <p14:creationId xmlns:p14="http://schemas.microsoft.com/office/powerpoint/2010/main" val="1806760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5B2B98D-19EE-758C-F2B4-764E767F7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6BAE6E-C695-2D99-129A-390EF3CCD53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B030C5-AA0F-7C36-9CE9-F7DE87BD690B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업무 이해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8012A-DB93-B4A0-BE99-691DFCC63B5B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2.7 VAN / POS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연계 인터페이스 구축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AB9F28-7C8B-9715-1784-0BED7537910F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표준 금융 전문 및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RESTful API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규격을 제공하여 메이저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VAN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사 및 다양한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POS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단말기와 즉시 연동됩니다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85064A-AB27-F419-5353-EB7FC305A315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BBF7176-4897-5813-A160-80CDD8EFC67C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C9B96-E2E3-0203-238D-4CFB754F2B7F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11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2F34D2A-822B-E2C1-3054-BEC46640744F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E78F4FC-C20A-018E-5755-FC6CF3483CD1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인터페이스 범위 및 규격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55C22-911A-A232-6E1F-04DA6B74F450}"/>
              </a:ext>
            </a:extLst>
          </p:cNvPr>
          <p:cNvSpPr txBox="1"/>
          <p:nvPr/>
        </p:nvSpPr>
        <p:spPr>
          <a:xfrm>
            <a:off x="6096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금융 표준 전문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(ISO-8583 / KS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표준 규격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VAN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망을 통한 승인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취소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대사 전문 송수신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오픈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API / RESTful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암호화 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스마트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POS,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키오스크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배달앱 등 신규 플랫폼 연계 지원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주요 인터페이스 기능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승인 요청 및 결과 응답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(0200 / 0210)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취소 요청 및 결과 응답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(0420 / 0430)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단말 등록 및 보안 키 교환 전문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일 마감 거래 내역 대사 파일 송수신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BAAD493-2FE9-03A9-9DAC-4C075C1A6B5C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1C13992-DC40-4552-3287-C680790F0665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연계 대상 및 연동 안정성 대책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5FEE06-5E34-2A26-C5CC-164EB4F4D987}"/>
              </a:ext>
            </a:extLst>
          </p:cNvPr>
          <p:cNvSpPr txBox="1"/>
          <p:nvPr/>
        </p:nvSpPr>
        <p:spPr>
          <a:xfrm>
            <a:off x="6299200" y="1676400"/>
            <a:ext cx="52832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연계 대상 파트너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주요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VAN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나이스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KIS, KICC,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금융결제원 등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대형 유통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프랜차이즈 자체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시스템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중소상공인용 모바일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및 테이블오더 시스템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연동 안정성 확보 방안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전용선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보안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VPN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이중화 회선 구성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외부 연계 지연 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Fast-Fail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및 서킷 브레이커 작동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가상 시뮬레이터를 조기 구축하여 인터페이스 사전 전수 검증</a:t>
            </a:r>
          </a:p>
        </p:txBody>
      </p:sp>
    </p:spTree>
    <p:extLst>
      <p:ext uri="{BB962C8B-B14F-4D97-AF65-F5344CB8AC3E}">
        <p14:creationId xmlns:p14="http://schemas.microsoft.com/office/powerpoint/2010/main" val="2449838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3056F4F-7C56-D50D-5E19-FBBE2FA4B0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2BB7A6-5658-81F5-6A04-A944FCB2250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C2E5D81-32A1-AEBB-82CF-8B7C95B7F28B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업무 이해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12181-68B9-5DA5-4DB5-9865449D53EC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2.8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정산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대사 자동화 및 통합 어드민 포털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ACF4724-A7D5-1776-1033-CD9E949F2449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가맹점별 맞춤 정산과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자 자동 대사 시스템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직관적인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Admin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대시보드를 제공하여 운영 효율을 극대화합니다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391B7BB-B546-B97A-2199-A8BF3C1FDCD3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C66880-FFA1-B374-DB46-9232EDF5DD01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CA51C8-A3EB-8B2C-C27B-FA8DDBD2270D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12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E93D91-994B-7E1B-D08E-1F6AD26FE998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3E170BD-CE83-8F52-4235-3421FC79FE4E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정산 및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자 대사 자동화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BC5225-83B2-3487-DDCA-21AF0EC65D8F}"/>
              </a:ext>
            </a:extLst>
          </p:cNvPr>
          <p:cNvSpPr txBox="1"/>
          <p:nvPr/>
        </p:nvSpPr>
        <p:spPr>
          <a:xfrm>
            <a:off x="609600" y="1676400"/>
            <a:ext cx="52832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가맹점 수수료 자동 계산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가맹점별 계약 수수료율 자동 적용 및 원천 차감 정산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정산 주기 스케줄링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익일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T+1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입금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배치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(Batch)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엔진을 통한 가맹점 계좌 자동 이체 실행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무결점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 자동 대사 시스템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[KB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 원장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] vs [VAN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 원장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] vs [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계정계 출금 원장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]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매일 새벽 불일치 내역 자동 탐지 및 불일치 건 알림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수동 보정 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54ACCE0-3999-0C97-4B84-F087F21C74AF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D06CC39-441B-25BE-6AA4-2953B25388CA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통합 운영 관리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(Admin Portal)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5902D-46E0-F1F9-5AD0-897BE3DA1480}"/>
              </a:ext>
            </a:extLst>
          </p:cNvPr>
          <p:cNvSpPr txBox="1"/>
          <p:nvPr/>
        </p:nvSpPr>
        <p:spPr>
          <a:xfrm>
            <a:off x="62992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실시간 거래 관제 대시보드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실시간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TPS,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취소 건수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매출액 현황 차트 시각화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가맹점 및 단말기 관리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가맹점 등록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심사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수수료율 변경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단말기 인증키 발급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CS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및 거래 추적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실패 사유 조회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취소 대행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이상 거래 감사 로그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권한별 접근 통제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(RBAC)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운영자 등급별 메뉴 접근 권한 통제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차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OTP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인증</a:t>
            </a:r>
          </a:p>
        </p:txBody>
      </p:sp>
    </p:spTree>
    <p:extLst>
      <p:ext uri="{BB962C8B-B14F-4D97-AF65-F5344CB8AC3E}">
        <p14:creationId xmlns:p14="http://schemas.microsoft.com/office/powerpoint/2010/main" val="620986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A181A58-14DF-7339-237D-E3F9B6391F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910096-7754-4C7B-B2CA-59D1EC9F1213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C90DD75-EDE8-E344-B1BF-E36A4F71996E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아키텍처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E7128-EBA9-CB72-FAED-9444337B1BF7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3.1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목표 시스템 아키텍처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(Target Architecture)</a:t>
            </a:r>
            <a:endParaRPr lang="ko-KR" altLang="en-US" sz="1700" b="1">
              <a:solidFill>
                <a:srgbClr val="0F17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68DBFF1-03B4-5D97-D31E-66E5986D842E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안정성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확장성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성능을 극대화한 금융권 표준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4-Tier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클라우드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온프레미스 하이브리드 아키텍처입니다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EEACBEF-7F2B-C6AD-5A79-FC3D484F4166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EB207DF-D0ED-A8CE-0C10-7D3537699477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67FAA2-08D8-9DC1-83DB-F8354224B0A0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13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D5C98BB-A83C-33E5-3A8F-342BE8E022F3}"/>
              </a:ext>
            </a:extLst>
          </p:cNvPr>
          <p:cNvSpPr/>
          <p:nvPr/>
        </p:nvSpPr>
        <p:spPr>
          <a:xfrm>
            <a:off x="5080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2D6F564-C03B-1EE8-3D0F-566D44ED1816}"/>
              </a:ext>
            </a:extLst>
          </p:cNvPr>
          <p:cNvSpPr/>
          <p:nvPr/>
        </p:nvSpPr>
        <p:spPr>
          <a:xfrm>
            <a:off x="508000" y="1193800"/>
            <a:ext cx="2692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1. Presentation Layer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1E5A5-7030-8373-7F16-9F6BB51C9416}"/>
              </a:ext>
            </a:extLst>
          </p:cNvPr>
          <p:cNvSpPr txBox="1"/>
          <p:nvPr/>
        </p:nvSpPr>
        <p:spPr>
          <a:xfrm>
            <a:off x="609600" y="1676400"/>
            <a:ext cx="24892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스타플랫폼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App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iOS/Android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네이티브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간편결제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SDK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탑재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웹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가맹점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Portal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반응형 웹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UI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운영자 통합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Admin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보안 전용망 접근 제어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5EB2815-795F-4C87-449E-9F6E41624E1D}"/>
              </a:ext>
            </a:extLst>
          </p:cNvPr>
          <p:cNvSpPr/>
          <p:nvPr/>
        </p:nvSpPr>
        <p:spPr>
          <a:xfrm>
            <a:off x="33274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24928F6-9135-305C-9623-4BD8692A1504}"/>
              </a:ext>
            </a:extLst>
          </p:cNvPr>
          <p:cNvSpPr/>
          <p:nvPr/>
        </p:nvSpPr>
        <p:spPr>
          <a:xfrm>
            <a:off x="3327400" y="1193800"/>
            <a:ext cx="2692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2. API Gateway Layer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82F27D-EA39-A0F1-42F1-B27EE526506B}"/>
              </a:ext>
            </a:extLst>
          </p:cNvPr>
          <p:cNvSpPr txBox="1"/>
          <p:nvPr/>
        </p:nvSpPr>
        <p:spPr>
          <a:xfrm>
            <a:off x="3429000" y="1676400"/>
            <a:ext cx="2489200" cy="1491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고성능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Gateway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API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라우팅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&amp; LB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OAuth 2.0 / JWT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검증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DDoS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방어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&amp; Throttling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암복호화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로깅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E2E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전송구간 암호화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실시간 트랜잭션 추적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36B36B1-01BE-8C17-97C0-3A4D5C5FF43A}"/>
              </a:ext>
            </a:extLst>
          </p:cNvPr>
          <p:cNvSpPr/>
          <p:nvPr/>
        </p:nvSpPr>
        <p:spPr>
          <a:xfrm>
            <a:off x="61468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5F44D8C-2D43-1911-04B7-6480CDCB9B92}"/>
              </a:ext>
            </a:extLst>
          </p:cNvPr>
          <p:cNvSpPr/>
          <p:nvPr/>
        </p:nvSpPr>
        <p:spPr>
          <a:xfrm>
            <a:off x="6146800" y="1193800"/>
            <a:ext cx="2692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3. Microservices Layer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6D819-ACDE-11B1-A069-BAAFEEA1B54E}"/>
              </a:ext>
            </a:extLst>
          </p:cNvPr>
          <p:cNvSpPr txBox="1"/>
          <p:nvPr/>
        </p:nvSpPr>
        <p:spPr>
          <a:xfrm>
            <a:off x="6248400" y="1676400"/>
            <a:ext cx="2489200" cy="1491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회원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인증 서비스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KYC / CDD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서비스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출금계좌 관리 서비스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토큰 엔진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실시간 승인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취소 엔진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정산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대사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배치 엔진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▶ 도메인별 독립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분리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0321091-22BC-CFE4-257D-31AA5C3E40F4}"/>
              </a:ext>
            </a:extLst>
          </p:cNvPr>
          <p:cNvSpPr/>
          <p:nvPr/>
        </p:nvSpPr>
        <p:spPr>
          <a:xfrm>
            <a:off x="89662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225C710-C5D0-B85B-20BB-DAA1BDDD1782}"/>
              </a:ext>
            </a:extLst>
          </p:cNvPr>
          <p:cNvSpPr/>
          <p:nvPr/>
        </p:nvSpPr>
        <p:spPr>
          <a:xfrm>
            <a:off x="8966200" y="1193800"/>
            <a:ext cx="2692400" cy="406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4. Legacy / External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92AC58-6F0B-CCE1-F460-7AD4E60D2FA6}"/>
              </a:ext>
            </a:extLst>
          </p:cNvPr>
          <p:cNvSpPr txBox="1"/>
          <p:nvPr/>
        </p:nvSpPr>
        <p:spPr>
          <a:xfrm>
            <a:off x="9067800" y="1676400"/>
            <a:ext cx="2489200" cy="1491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내부 기간계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계정계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고객정보계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FDS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이상거래탐지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대외 인터페이스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VAN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시스템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금융결제원 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통신사 본인확인망</a:t>
            </a:r>
          </a:p>
        </p:txBody>
      </p:sp>
    </p:spTree>
    <p:extLst>
      <p:ext uri="{BB962C8B-B14F-4D97-AF65-F5344CB8AC3E}">
        <p14:creationId xmlns:p14="http://schemas.microsoft.com/office/powerpoint/2010/main" val="1177399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537AB39-3C32-A67E-DAC5-C0AA958C25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C667A1A-EDB1-0D45-7C92-62F293703E6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6B98C73-1869-F537-DDCF-E71049B200D9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아키텍처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6B26C-953C-0E2D-19B7-09839343FCC6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3.2 MSA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기반 서비스 분할 및 확장 설계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FEE5F9F-EF8F-7BC0-1877-0C5716F14036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도메인별 독립적인 마이크로서비스 구성을 통해 특정 서비스 장애를 격리하고 무한 확장을 지원합니다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1FA1A37-E5F7-7B13-C0E2-F8C2A83C21EA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4B147F2-ACA7-FF21-F8CE-8082B0710EBF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AC8D3C-073B-07D1-10D2-DD4359943D94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14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343C7E1-D43D-0F09-A0D8-584C99173F27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80D12CF-061F-DF7B-69AC-7E646ADA8AA5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MSA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적용 도메인 및 독립성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4A7FDE-D2CA-E6D2-4601-FD1106A30957}"/>
              </a:ext>
            </a:extLst>
          </p:cNvPr>
          <p:cNvSpPr txBox="1"/>
          <p:nvPr/>
        </p:nvSpPr>
        <p:spPr>
          <a:xfrm>
            <a:off x="6096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결제 트랜잭션 독립 스케일아웃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이벤트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피크 시간대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 서비스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]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만 집중 증설 가능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장애 격리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(Fault Isolation)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부가 서비스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정산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장애가 결제 승인에 영향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0%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비동기 메시징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(Kafka / RabbitMQ)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완료 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Push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발송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통계 적재 등 후속 작업 비동기 분리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DB per Service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원칙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서비스별 전용 스키마 분리를 통한 데이터 결합도 제거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3AC72A8-F983-8D55-5207-4D107FDFC2EF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64A8B3-6ADA-CAF5-D89F-0B8B31C745B8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API Gateway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및 트래픽 제어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2BAA26-B286-1164-625F-883ACBE954A6}"/>
              </a:ext>
            </a:extLst>
          </p:cNvPr>
          <p:cNvSpPr txBox="1"/>
          <p:nvPr/>
        </p:nvSpPr>
        <p:spPr>
          <a:xfrm>
            <a:off x="6299200" y="1676400"/>
            <a:ext cx="52832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단일 진입점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(Single Point of Entry)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모든 외부 및 앱 요청을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Gateway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에서 중앙 통제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지능형 트래픽 제어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서킷 브레이커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(Circuit Breaker)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를 통한 장애 지연 사전 차단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비정상 과다 호출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IP/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사용자 실시간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Throttling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분산 트랜잭션 추적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(APM)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Global Transaction ID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기반으로 호출 전 구간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(E2E)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시각화</a:t>
            </a:r>
          </a:p>
        </p:txBody>
      </p:sp>
    </p:spTree>
    <p:extLst>
      <p:ext uri="{BB962C8B-B14F-4D97-AF65-F5344CB8AC3E}">
        <p14:creationId xmlns:p14="http://schemas.microsoft.com/office/powerpoint/2010/main" val="3062853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69F1871-08C2-3B6D-8907-6E023AA4B5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32683AC-0960-CB80-89CB-C7D904357DE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98269DA-E050-2791-D135-B5C71A232BD2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아키텍처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605C6-91EB-9D60-1A78-64E5AD10E2AD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3.3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대내외 시스템 연계 방안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(EAI / MCI / FEP)</a:t>
            </a:r>
            <a:endParaRPr lang="ko-KR" altLang="en-US" sz="1700" b="1">
              <a:solidFill>
                <a:srgbClr val="0F17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D3177E7-66E6-600B-A2CE-60A9DD998660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내부 기간계 및 대외망과의 철저한 인터페이스 표준화로 데이터 정합성과 고속 통신을 보장합니다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6ACDECE-DC9C-37E0-3ADF-32D3B5C71DA0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66FABA4-8859-C5E1-5EBC-27DE166E2CF0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6133F-6F27-F223-F0BF-EDCE97D2B541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15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599C7B6-0CE0-E78D-0EF7-52CDBE6D47F5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669313E-7F65-C4F8-E58A-7FC16C8D9217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대내 시스템 연계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(MCI / EAI)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5D8203-4515-7BEC-F817-714B78D590BE}"/>
              </a:ext>
            </a:extLst>
          </p:cNvPr>
          <p:cNvSpPr txBox="1"/>
          <p:nvPr/>
        </p:nvSpPr>
        <p:spPr>
          <a:xfrm>
            <a:off x="6096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계정계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(Core Banking)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계좌 잔액 조회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출금 이체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출금 동의 등록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동기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RPC)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통합 인증센터 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국민인증서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간편인증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생체인증 토큰 검증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통합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FDS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승인 전 실시간 리스크 평가 요청 및 결과 수신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고객정보계 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회원 기본정보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KYC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이력 실시간 동기화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312815F-7C3C-2550-71D2-FFF2748D1C94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9053238-91E4-3E3C-EB62-8FD4870BBDFC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대외 시스템 연계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(FEP / VPN)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FAC7D-2049-267D-F153-F7F4571AF9E6}"/>
              </a:ext>
            </a:extLst>
          </p:cNvPr>
          <p:cNvSpPr txBox="1"/>
          <p:nvPr/>
        </p:nvSpPr>
        <p:spPr>
          <a:xfrm>
            <a:off x="6299200" y="1676400"/>
            <a:ext cx="5283200" cy="20227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VAN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사 전용선 연계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(FEP)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승인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취소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ISO-8583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표준 전문 통신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응답시간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&lt; 200ms)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금융결제원 오픈뱅킹망 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타행 계좌 출금 및 계좌 유효성 검증 연계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통신사 본인확인망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SMS / PASS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앱 인증 연동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보안 연계망 구성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전용선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(Leased Line)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IPsec VPN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이중화 회선 확보</a:t>
            </a:r>
          </a:p>
        </p:txBody>
      </p:sp>
    </p:spTree>
    <p:extLst>
      <p:ext uri="{BB962C8B-B14F-4D97-AF65-F5344CB8AC3E}">
        <p14:creationId xmlns:p14="http://schemas.microsoft.com/office/powerpoint/2010/main" val="1004468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8E7EB1-F033-4254-4BB5-50BEFFF24E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19BCAE-12C3-19BC-38CE-C81009FF3FF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6829DA4-B4A9-A04D-F709-0208A0C590D0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III.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아키텍처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E17DE-C6B4-D1D4-855F-10543936C0C3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3.4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고가용성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(Active-Active)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및 무중단 배포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48B56BE-838C-2897-7DA8-6F3302240F14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24x365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무중단 서비스를 위해 인프라 전 구간 이중화 및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Blue-Green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무중단 배포 파이프라인을 구축합니다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9285AA7-1DD0-7DB6-023E-327BA83C7204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EEB8D7-2C2F-2242-3993-60B6E2399A9E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52A319-AC0A-1FB7-DDE5-47F5B5E5B995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16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53FFC44-EDFE-A273-9D97-3E0EB4F5E0F7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E1F12A2-C42C-A3F4-348B-7A130E1DA36C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인프라 고가용성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(HA)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설계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5B531D-D41B-9B3D-AA03-96C598E4DFC9}"/>
              </a:ext>
            </a:extLst>
          </p:cNvPr>
          <p:cNvSpPr txBox="1"/>
          <p:nvPr/>
        </p:nvSpPr>
        <p:spPr>
          <a:xfrm>
            <a:off x="609600" y="1676400"/>
            <a:ext cx="52832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Active-Active Multi-Zone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구성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센터 내 모든 웹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앱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/DB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서버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Active-Active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이중화 배치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L4/L7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스위치를 통한 실시간 헬스체크 및 트래픽 분산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무손실 데이터 복제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(Sync Replication)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DB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실시간 동기 복제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Failover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자동화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(RTO &lt; 10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DR(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재해복구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센터 비상 대응 체계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주센터 장애 시 재해복구 센터로 즉시 전환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(RTO &lt; 15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RPO = 0)</a:t>
            </a: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737A212-4356-F487-D644-545B11C4B856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9A870B-AB24-487F-B6C5-002C5A936D90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무중단 배포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(Zero-Downtime Deployment)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FBAAD7-9F41-4EBC-7B72-C04697BA6DE3}"/>
              </a:ext>
            </a:extLst>
          </p:cNvPr>
          <p:cNvSpPr txBox="1"/>
          <p:nvPr/>
        </p:nvSpPr>
        <p:spPr>
          <a:xfrm>
            <a:off x="6299200" y="1676400"/>
            <a:ext cx="5283200" cy="1491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Blue-Green / Canary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무중단 배포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신규 버전 배포 시 서비스 중단 없이 트래픽 순차 전환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배포 중 이상 발생 시 즉시 롤백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- 1-Click Rollback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체계로 배포 리스크 원천 제거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자동화 파이프라인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빌드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단위테스트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정적보안검사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배포 전 과정 자동화</a:t>
            </a:r>
          </a:p>
        </p:txBody>
      </p:sp>
    </p:spTree>
    <p:extLst>
      <p:ext uri="{BB962C8B-B14F-4D97-AF65-F5344CB8AC3E}">
        <p14:creationId xmlns:p14="http://schemas.microsoft.com/office/powerpoint/2010/main" val="3181392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F059D6-C294-A463-B1BE-B898DEF826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BF9E6F-E623-C32B-5328-18F6230D949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5DE818F-BF07-4A9F-54BB-49B10C813899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IV.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보안 및 규제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BCABE-123F-25BF-F868-D20B1A2FF4BE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4.1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금융권 표준 전방위 보안 체계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(Security First)</a:t>
            </a:r>
            <a:endParaRPr lang="ko-KR" altLang="en-US" sz="1700" b="1">
              <a:solidFill>
                <a:srgbClr val="0F17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E77E887-C751-A512-96F2-E4A6E11D34BB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단말부터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DB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까지 전 구간 암호화와 강력한 접근 통제로 최고 수준의 금융 보안성을 보장합니다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CED5E27-DC6C-1241-ECD4-53B529A63940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3F6B1A-FBBB-D0B7-CD0A-57A73D5BEF34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2CBAF-A567-A4DA-E7C2-3E11C4769012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17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C6F657-92A1-262C-CED1-D2ED6FAEE0BE}"/>
              </a:ext>
            </a:extLst>
          </p:cNvPr>
          <p:cNvSpPr/>
          <p:nvPr/>
        </p:nvSpPr>
        <p:spPr>
          <a:xfrm>
            <a:off x="5080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CD51563-290F-0671-7AC6-DE77D57846EC}"/>
              </a:ext>
            </a:extLst>
          </p:cNvPr>
          <p:cNvSpPr/>
          <p:nvPr/>
        </p:nvSpPr>
        <p:spPr>
          <a:xfrm>
            <a:off x="508000" y="1193800"/>
            <a:ext cx="36195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단말 및 앱 보안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(App Security)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7F8044-BFA1-3F02-ED6E-E6BFDDBDD076}"/>
              </a:ext>
            </a:extLst>
          </p:cNvPr>
          <p:cNvSpPr txBox="1"/>
          <p:nvPr/>
        </p:nvSpPr>
        <p:spPr>
          <a:xfrm>
            <a:off x="609600" y="1676400"/>
            <a:ext cx="3416300" cy="9609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앱 무결성 검증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위변조 방지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화면 캡처 및 미러링 차단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루팅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탈옥 단말 접속 차단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가상 보안 키패드 적용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(E2E)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디컴파일 방지 및 난독화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45EB482-93B7-A4EA-DF88-19D2AE32CEEB}"/>
              </a:ext>
            </a:extLst>
          </p:cNvPr>
          <p:cNvSpPr/>
          <p:nvPr/>
        </p:nvSpPr>
        <p:spPr>
          <a:xfrm>
            <a:off x="42799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062ACA6-35A9-D4E7-4DC7-2800D3F66798}"/>
              </a:ext>
            </a:extLst>
          </p:cNvPr>
          <p:cNvSpPr/>
          <p:nvPr/>
        </p:nvSpPr>
        <p:spPr>
          <a:xfrm>
            <a:off x="4279900" y="1193800"/>
            <a:ext cx="36195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네트워크 및 전송 보안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(Network)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016EDE-4C66-3CAD-D962-0BF180DE0241}"/>
              </a:ext>
            </a:extLst>
          </p:cNvPr>
          <p:cNvSpPr txBox="1"/>
          <p:nvPr/>
        </p:nvSpPr>
        <p:spPr>
          <a:xfrm>
            <a:off x="4381500" y="1676400"/>
            <a:ext cx="3416300" cy="9609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전 구간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TLS 1.3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암호화 통신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mTLS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기반 상호 서버 인증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SSL Pinning (MITM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방지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WAF(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웹방화벽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 &amp; DDoS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방어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중요 파라미터 이중 서명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354F532-428B-3278-5984-15872C369148}"/>
              </a:ext>
            </a:extLst>
          </p:cNvPr>
          <p:cNvSpPr/>
          <p:nvPr/>
        </p:nvSpPr>
        <p:spPr>
          <a:xfrm>
            <a:off x="80518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C031F44-F695-FD4B-7878-F75891AE8577}"/>
              </a:ext>
            </a:extLst>
          </p:cNvPr>
          <p:cNvSpPr/>
          <p:nvPr/>
        </p:nvSpPr>
        <p:spPr>
          <a:xfrm>
            <a:off x="8051800" y="1193800"/>
            <a:ext cx="36195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데이터 및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보안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(Data Security)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751491-2518-DA80-F37F-FB9A7EA021EE}"/>
              </a:ext>
            </a:extLst>
          </p:cNvPr>
          <p:cNvSpPr txBox="1"/>
          <p:nvPr/>
        </p:nvSpPr>
        <p:spPr>
          <a:xfrm>
            <a:off x="8153400" y="1676400"/>
            <a:ext cx="3416300" cy="9609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민감정보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AES-256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암호화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비밀번호 솔트 해시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(SHA-256)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보안 모듈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(HSM/KMS)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접근제어 솔루션 적용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개인정보 열람 감사 로그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년</a:t>
            </a:r>
          </a:p>
        </p:txBody>
      </p:sp>
    </p:spTree>
    <p:extLst>
      <p:ext uri="{BB962C8B-B14F-4D97-AF65-F5344CB8AC3E}">
        <p14:creationId xmlns:p14="http://schemas.microsoft.com/office/powerpoint/2010/main" val="1835942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B3F6A1B-D9CF-9626-FA6B-E8E2461A37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B3FE79-069B-E83A-1FAC-54A757680F0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4916C02-E4AB-4DBB-A818-D090EE7D0843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IV.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보안 및 규제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EF2AD-D3EB-EB2D-44F8-9237446EA259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4.2 FDS(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이상거래탐지시스템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연계 및 부정 방지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46DF283-FFD5-10BF-C0FE-AD2A44BBED4D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결제 전 단계에서 이상 징후를 실시간으로 탐지하여 명의도용 및 부정 결제 사고를 사전에 원천 차단합니다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83CD94B-C974-A259-04FD-77F4EB29D90E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5ACA8BA-F3D1-E4E4-8789-A5803FB025D9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22371F-AA7C-A27E-8440-94215E7DC278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18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685FCA-CEEC-0BA8-9FEF-1D21FF268236}"/>
              </a:ext>
            </a:extLst>
          </p:cNvPr>
          <p:cNvSpPr/>
          <p:nvPr/>
        </p:nvSpPr>
        <p:spPr>
          <a:xfrm>
            <a:off x="5080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346A38F-4059-004F-3B16-834CB0312C79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FDS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탐지 룰 및 분석 모델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DA8474-4FDB-B68E-1E6F-C25DBFE46CDD}"/>
              </a:ext>
            </a:extLst>
          </p:cNvPr>
          <p:cNvSpPr txBox="1"/>
          <p:nvPr/>
        </p:nvSpPr>
        <p:spPr>
          <a:xfrm>
            <a:off x="609600" y="1676400"/>
            <a:ext cx="52832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단말 환경 이상 탐지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원격 제어 앱 구동 여부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가상머신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에뮬레이터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구동 감지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거래 패턴 이상 탐지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단시간 반복 결제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평소 결제 패턴과 상이한 고액 결제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물리적으로 불가능한 위치 간 연속 결제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텔레포트 거래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디바이스 핑거프린팅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(Device Fingerprinting)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기기 고유 식별값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IP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위치 분석을 통한 부정 단말 블랙리스트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5C4C99C-5070-12D1-3ABA-70C1C57B97C3}"/>
              </a:ext>
            </a:extLst>
          </p:cNvPr>
          <p:cNvSpPr/>
          <p:nvPr/>
        </p:nvSpPr>
        <p:spPr>
          <a:xfrm>
            <a:off x="6197600" y="1193800"/>
            <a:ext cx="5486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0E44ADB-662C-CE7F-669F-E4735EA6AF75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실시간 차단 및 대응 프로세스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AE42E-B288-9929-5757-414F9AF0A7E4}"/>
              </a:ext>
            </a:extLst>
          </p:cNvPr>
          <p:cNvSpPr txBox="1"/>
          <p:nvPr/>
        </p:nvSpPr>
        <p:spPr>
          <a:xfrm>
            <a:off x="6299200" y="1676400"/>
            <a:ext cx="52832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실시간 위험 스코어링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(Risk Scoring)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위험도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안전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주의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경고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차단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' 4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단계 실시간 판별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단계별 대응 액션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[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주의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] : 2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차 추가 인증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(ARS 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생체인증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요구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[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경고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차단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] 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즉시 차단 및 회원에게 긴급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SMS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통보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통합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FDS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센터 실시간 공조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그룹사 공통 이상 거래 블랙리스트 실시간 동기화</a:t>
            </a:r>
          </a:p>
        </p:txBody>
      </p:sp>
    </p:spTree>
    <p:extLst>
      <p:ext uri="{BB962C8B-B14F-4D97-AF65-F5344CB8AC3E}">
        <p14:creationId xmlns:p14="http://schemas.microsoft.com/office/powerpoint/2010/main" val="1200241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1077376-F8C4-48C1-1EF6-8E0B14A937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158CB7F-7DC4-C02B-C03F-A9867A95555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3CC8E09-DA60-9504-BC62-EF8C66F1D1BB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IV.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보안 및 규제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0CE2D-0391-50A8-34C3-316480049662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4.3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전자금융거래법 및 금융 규제 준수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(Compliance)</a:t>
            </a:r>
            <a:endParaRPr lang="ko-KR" altLang="en-US" sz="1700" b="1">
              <a:solidFill>
                <a:srgbClr val="0F17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D7D50F9-E0AF-F578-9621-33C0440973CF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금융당국의 감독 규정 및 관련 법령을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100%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준수하여 법적 리스크를 완벽하게 제거합니다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5F3F13A-129E-E2AB-0299-C8EB021A304A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01E1975-BCCE-8F87-D8AE-F187AC3ED4F5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2B3BC-2FC1-D949-2BA5-A70E26D460E4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19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9E55D17-6D06-A35D-2118-A11A0C4C4270}"/>
              </a:ext>
            </a:extLst>
          </p:cNvPr>
          <p:cNvSpPr/>
          <p:nvPr/>
        </p:nvSpPr>
        <p:spPr>
          <a:xfrm>
            <a:off x="5080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4E2C5A0-169F-FB26-5C7F-42949C3C06D2}"/>
              </a:ext>
            </a:extLst>
          </p:cNvPr>
          <p:cNvSpPr/>
          <p:nvPr/>
        </p:nvSpPr>
        <p:spPr>
          <a:xfrm>
            <a:off x="508000" y="1193800"/>
            <a:ext cx="36195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전자금융거래법 준수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E4865-BA6C-6708-334D-DF428A4BF846}"/>
              </a:ext>
            </a:extLst>
          </p:cNvPr>
          <p:cNvSpPr txBox="1"/>
          <p:nvPr/>
        </p:nvSpPr>
        <p:spPr>
          <a:xfrm>
            <a:off x="609600" y="1676400"/>
            <a:ext cx="3416300" cy="1491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전자출금동의 증적 보관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고객 출금 동의 내역 공인 증적 확보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거래기록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년 보존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취소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정산 로그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년간 위변조 방지 보관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손해배상 책임 대응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무권대리 거래 및 사고 시 보상 프로세스 수립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D20A8E8-F3F4-E5EA-E335-4A55A00F3B5B}"/>
              </a:ext>
            </a:extLst>
          </p:cNvPr>
          <p:cNvSpPr/>
          <p:nvPr/>
        </p:nvSpPr>
        <p:spPr>
          <a:xfrm>
            <a:off x="42799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85EC19B-7842-6C6B-3D3D-4F5E58976FC8}"/>
              </a:ext>
            </a:extLst>
          </p:cNvPr>
          <p:cNvSpPr/>
          <p:nvPr/>
        </p:nvSpPr>
        <p:spPr>
          <a:xfrm>
            <a:off x="4279900" y="1193800"/>
            <a:ext cx="36195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자금세탁방지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(AML)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준수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E407AD-45D7-EDFF-5E7F-0F6AECC5678F}"/>
              </a:ext>
            </a:extLst>
          </p:cNvPr>
          <p:cNvSpPr txBox="1"/>
          <p:nvPr/>
        </p:nvSpPr>
        <p:spPr>
          <a:xfrm>
            <a:off x="4381500" y="1676400"/>
            <a:ext cx="3416300" cy="1491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고객확인의무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(CDD)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이행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비대면 고객 실명확인 절차 준수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의심거래보고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(STR)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자금세탁 의심 패턴 자동 추출 및 보고 체계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고액현금거래보고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(CTR)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법정 기준치 초과 거래 관리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16A0EFA-315C-1BEB-B85F-413AAF7D1D2B}"/>
              </a:ext>
            </a:extLst>
          </p:cNvPr>
          <p:cNvSpPr/>
          <p:nvPr/>
        </p:nvSpPr>
        <p:spPr>
          <a:xfrm>
            <a:off x="80518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8D3824E-B10F-858D-1F4C-EB4B948B2F98}"/>
              </a:ext>
            </a:extLst>
          </p:cNvPr>
          <p:cNvSpPr/>
          <p:nvPr/>
        </p:nvSpPr>
        <p:spPr>
          <a:xfrm>
            <a:off x="8051800" y="1193800"/>
            <a:ext cx="36195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개인정보보호법 준수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2FF099-EBA9-8F36-6046-1382833F4DF2}"/>
              </a:ext>
            </a:extLst>
          </p:cNvPr>
          <p:cNvSpPr txBox="1"/>
          <p:nvPr/>
        </p:nvSpPr>
        <p:spPr>
          <a:xfrm>
            <a:off x="8153400" y="1676400"/>
            <a:ext cx="34163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최소 수집 및 목적 외 이용 금지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필수 정보만 분리 수집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개인정보 파기 자동화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회원 탈퇴 시 법정 보관 기간 경과 후 자동 영구 파기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금융보안원 보안성 심의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100%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대응</a:t>
            </a:r>
          </a:p>
        </p:txBody>
      </p:sp>
    </p:spTree>
    <p:extLst>
      <p:ext uri="{BB962C8B-B14F-4D97-AF65-F5344CB8AC3E}">
        <p14:creationId xmlns:p14="http://schemas.microsoft.com/office/powerpoint/2010/main" val="226155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3122AE7-1FB4-911C-A703-8BEAA81E05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43B009-BA9A-E467-2C63-A195253CA93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01578F4-0F99-E3C2-F468-A04B947C054B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V.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사업 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CD2BB-E65F-187F-3FFC-894788981103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5.1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마스터 추진 일정 계획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총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7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개월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WBS)</a:t>
            </a:r>
            <a:endParaRPr lang="ko-KR" altLang="en-US" sz="1700" b="1">
              <a:solidFill>
                <a:srgbClr val="0F17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537A38-CC0D-7198-DC27-47C2623DD2B9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분석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설계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개발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테스트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이행의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단계 정밀 공정 관리를 통해 납기 준수와 품질 완성을 보장합니다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D917C1B-9558-E76E-2B36-DF87A8DEAF35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CD0A2EC-295D-012D-C0B0-E41D6445CB55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847C9-067F-EC20-1B26-3709AE0F91C7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20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D5D7A33-CF68-7670-E110-BAB7481F9631}"/>
              </a:ext>
            </a:extLst>
          </p:cNvPr>
          <p:cNvSpPr/>
          <p:nvPr/>
        </p:nvSpPr>
        <p:spPr>
          <a:xfrm>
            <a:off x="508000" y="1193800"/>
            <a:ext cx="21336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EB4E466-C9CD-5552-EBBF-91C00287B445}"/>
              </a:ext>
            </a:extLst>
          </p:cNvPr>
          <p:cNvSpPr/>
          <p:nvPr/>
        </p:nvSpPr>
        <p:spPr>
          <a:xfrm>
            <a:off x="508000" y="1193800"/>
            <a:ext cx="21336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착수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분석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(1.5M)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DF0230-2769-A5B6-C71F-31CE05B22BFB}"/>
              </a:ext>
            </a:extLst>
          </p:cNvPr>
          <p:cNvSpPr txBox="1"/>
          <p:nvPr/>
        </p:nvSpPr>
        <p:spPr>
          <a:xfrm>
            <a:off x="609600" y="1676400"/>
            <a:ext cx="19304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착수 보고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요구사항 분석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현행 시스템 분석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대내외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I/F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정의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WBS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상세화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&gt;&gt;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산출물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요구사항정의서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I/F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명세서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6828516-F349-9DE5-AB67-61A0A4626D77}"/>
              </a:ext>
            </a:extLst>
          </p:cNvPr>
          <p:cNvSpPr/>
          <p:nvPr/>
        </p:nvSpPr>
        <p:spPr>
          <a:xfrm>
            <a:off x="2768600" y="1193800"/>
            <a:ext cx="21336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6CCF412-1157-7C87-AD30-41ED3C053A62}"/>
              </a:ext>
            </a:extLst>
          </p:cNvPr>
          <p:cNvSpPr/>
          <p:nvPr/>
        </p:nvSpPr>
        <p:spPr>
          <a:xfrm>
            <a:off x="2768600" y="1193800"/>
            <a:ext cx="21336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상세 설계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(1.5M)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BE284E-B1B8-4E4A-6666-C5CB12DDCC9C}"/>
              </a:ext>
            </a:extLst>
          </p:cNvPr>
          <p:cNvSpPr txBox="1"/>
          <p:nvPr/>
        </p:nvSpPr>
        <p:spPr>
          <a:xfrm>
            <a:off x="2870200" y="1676400"/>
            <a:ext cx="19304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UI/UX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설계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시스템 아키텍처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모델링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API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상세 규격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보안 아키텍처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&gt;&gt;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산출물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화면설계서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DB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설계서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/API</a:t>
            </a: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0FB7515-B97A-B606-B062-E4DA34946A98}"/>
              </a:ext>
            </a:extLst>
          </p:cNvPr>
          <p:cNvSpPr/>
          <p:nvPr/>
        </p:nvSpPr>
        <p:spPr>
          <a:xfrm>
            <a:off x="5029200" y="1193800"/>
            <a:ext cx="21336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BD43D5E-F1C0-1B81-F84E-B07AE79D9730}"/>
              </a:ext>
            </a:extLst>
          </p:cNvPr>
          <p:cNvSpPr/>
          <p:nvPr/>
        </p:nvSpPr>
        <p:spPr>
          <a:xfrm>
            <a:off x="5029200" y="1193800"/>
            <a:ext cx="21336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개발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구현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(2.5M)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2C6E6D-9994-DC1D-5DFB-956F0C75B190}"/>
              </a:ext>
            </a:extLst>
          </p:cNvPr>
          <p:cNvSpPr txBox="1"/>
          <p:nvPr/>
        </p:nvSpPr>
        <p:spPr>
          <a:xfrm>
            <a:off x="5130800" y="1676400"/>
            <a:ext cx="19304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App/Web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개발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MSA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백엔드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기간계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/VAN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Admin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포털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단위 테스트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&gt;&gt;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산출물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소스코드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단위테스트결과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4858EB2-E458-0F61-D57F-1C1314A742F5}"/>
              </a:ext>
            </a:extLst>
          </p:cNvPr>
          <p:cNvSpPr/>
          <p:nvPr/>
        </p:nvSpPr>
        <p:spPr>
          <a:xfrm>
            <a:off x="7289800" y="1193800"/>
            <a:ext cx="21336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99163BC-ED4C-36B3-59BF-DC0740AFCCFD}"/>
              </a:ext>
            </a:extLst>
          </p:cNvPr>
          <p:cNvSpPr/>
          <p:nvPr/>
        </p:nvSpPr>
        <p:spPr>
          <a:xfrm>
            <a:off x="7289800" y="1193800"/>
            <a:ext cx="2133600" cy="406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4.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통합테스트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(1.0M)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649F98-244B-AE4E-A369-8A9AD576BAA7}"/>
              </a:ext>
            </a:extLst>
          </p:cNvPr>
          <p:cNvSpPr txBox="1"/>
          <p:nvPr/>
        </p:nvSpPr>
        <p:spPr>
          <a:xfrm>
            <a:off x="7391400" y="1676400"/>
            <a:ext cx="1930400" cy="1491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E2E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통합테스트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VAN/POS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연동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성능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(TPS)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부하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보안 모의해킹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&gt;&gt;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산출물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통합테스트결과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성능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보안결과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9267640-A972-5BE9-25B8-375CF77F9C16}"/>
              </a:ext>
            </a:extLst>
          </p:cNvPr>
          <p:cNvSpPr/>
          <p:nvPr/>
        </p:nvSpPr>
        <p:spPr>
          <a:xfrm>
            <a:off x="9550400" y="1193800"/>
            <a:ext cx="21336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C68917-4AAD-F2C7-8102-36C53C1D802E}"/>
              </a:ext>
            </a:extLst>
          </p:cNvPr>
          <p:cNvSpPr/>
          <p:nvPr/>
        </p:nvSpPr>
        <p:spPr>
          <a:xfrm>
            <a:off x="9550400" y="1193800"/>
            <a:ext cx="21336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5.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이행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안정화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(0.5M)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936010-4806-D063-79CA-F4A7CEB42C19}"/>
              </a:ext>
            </a:extLst>
          </p:cNvPr>
          <p:cNvSpPr txBox="1"/>
          <p:nvPr/>
        </p:nvSpPr>
        <p:spPr>
          <a:xfrm>
            <a:off x="9652000" y="1676400"/>
            <a:ext cx="19304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파일럿 오픈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운영 전환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데이터 이행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가맹점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운영 교육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24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시간 비상 관제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&gt;&gt;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산출물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운영매뉴얼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완료보고서</a:t>
            </a:r>
          </a:p>
        </p:txBody>
      </p:sp>
    </p:spTree>
    <p:extLst>
      <p:ext uri="{BB962C8B-B14F-4D97-AF65-F5344CB8AC3E}">
        <p14:creationId xmlns:p14="http://schemas.microsoft.com/office/powerpoint/2010/main" val="2527647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BE1CC4D-D156-B2AB-BD11-6191AA9242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3BB336-6950-D829-F260-AA035C25318F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0912A4A-1A6D-1A30-9F68-31D0EFF5D320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V.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사업 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23293-0DEE-92A3-D2BB-56A6FAE0B205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5.2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프로젝트 전담 수행 조직 및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R&amp;R</a:t>
            </a:r>
            <a:endParaRPr lang="ko-KR" altLang="en-US" sz="1700" b="1">
              <a:solidFill>
                <a:srgbClr val="0F17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56C06EE-46B7-C420-1B89-D69D1E16F5A7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금융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SI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전문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PM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및 특급 도메인 엔지니어로 구성된 책임 조직을 가동하여 리스크 없는 구축을 수행합니다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579CC93-A2B5-19C7-5C9A-0937F899D9F9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016D594-4A70-EB1A-C19C-5FB71956095B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487634-9FCE-FE27-0BF0-D30D181B020C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21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598E31-B32F-A049-77DC-15518CA76CC5}"/>
              </a:ext>
            </a:extLst>
          </p:cNvPr>
          <p:cNvSpPr/>
          <p:nvPr/>
        </p:nvSpPr>
        <p:spPr>
          <a:xfrm>
            <a:off x="508000" y="11938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DDC918F-EE16-4DEC-A6A7-E1A077047517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PMO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및 총괄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AB7C7D-C124-5C2E-EA16-C94BA8176829}"/>
              </a:ext>
            </a:extLst>
          </p:cNvPr>
          <p:cNvSpPr txBox="1"/>
          <p:nvPr/>
        </p:nvSpPr>
        <p:spPr>
          <a:xfrm>
            <a:off x="609600" y="16764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사업 총괄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PM 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프로젝트 일정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범위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리소스 총괄 관리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품질보증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(QA)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책임자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산출물 품질 점검 및 표준 준수 검증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보안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컴플라이언스 담당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금융보안 심의 및 규제 준수 검토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37267C0-3999-5F83-0DF0-444B3F99D1E1}"/>
              </a:ext>
            </a:extLst>
          </p:cNvPr>
          <p:cNvSpPr/>
          <p:nvPr/>
        </p:nvSpPr>
        <p:spPr>
          <a:xfrm>
            <a:off x="6197600" y="11938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C2A35CC-1AAB-FF4B-16B5-D59FC2F6AA81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아키텍처 및 공통 기술팀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BF0EF9-E515-4AC0-B695-999D526A65A5}"/>
              </a:ext>
            </a:extLst>
          </p:cNvPr>
          <p:cNvSpPr txBox="1"/>
          <p:nvPr/>
        </p:nvSpPr>
        <p:spPr>
          <a:xfrm>
            <a:off x="6299200" y="16764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수석 아키텍트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(TA) 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목표 아키텍처 및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MSA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설계 총괄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데이터 아키텍트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(DA) 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정산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 원장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모델링 및 성능 최적화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인프라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DevOps : CI/CD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파이프라인 및 무중단 배포 환경 구축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F1B72C5-1A4D-BE89-D96D-D95ADAC1F83D}"/>
              </a:ext>
            </a:extLst>
          </p:cNvPr>
          <p:cNvSpPr/>
          <p:nvPr/>
        </p:nvSpPr>
        <p:spPr>
          <a:xfrm>
            <a:off x="508000" y="37846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B395F65-1E09-5BE0-2CB5-DCC6E83BA63B}"/>
              </a:ext>
            </a:extLst>
          </p:cNvPr>
          <p:cNvSpPr/>
          <p:nvPr/>
        </p:nvSpPr>
        <p:spPr>
          <a:xfrm>
            <a:off x="508000" y="3784600"/>
            <a:ext cx="5486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도메인별 전담 개발팀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D4B33B-FF75-CC15-C967-9745395BF59B}"/>
              </a:ext>
            </a:extLst>
          </p:cNvPr>
          <p:cNvSpPr txBox="1"/>
          <p:nvPr/>
        </p:nvSpPr>
        <p:spPr>
          <a:xfrm>
            <a:off x="609600" y="4267200"/>
            <a:ext cx="5283200" cy="7839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회원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인증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/KYC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팀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본인확인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실명검증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AML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연계 개발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결제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/QR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팀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동적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생성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초고속 승인 엔진 구축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정산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어드민팀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3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 대사 자동화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수수료 정산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Admin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포털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인터페이스팀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계정계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VAN, POS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연동 전담 개발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664E270-BDCA-4362-2CC6-AF3228C8CFCB}"/>
              </a:ext>
            </a:extLst>
          </p:cNvPr>
          <p:cNvSpPr/>
          <p:nvPr/>
        </p:nvSpPr>
        <p:spPr>
          <a:xfrm>
            <a:off x="6197600" y="37846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CAE4856-BF62-E018-D01A-D3978F89971C}"/>
              </a:ext>
            </a:extLst>
          </p:cNvPr>
          <p:cNvSpPr/>
          <p:nvPr/>
        </p:nvSpPr>
        <p:spPr>
          <a:xfrm>
            <a:off x="6197600" y="3784600"/>
            <a:ext cx="5486400" cy="406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테스트 및 이행 지원팀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3E0F2C-FA03-DDB4-0A1A-BF18D10296C1}"/>
              </a:ext>
            </a:extLst>
          </p:cNvPr>
          <p:cNvSpPr txBox="1"/>
          <p:nvPr/>
        </p:nvSpPr>
        <p:spPr>
          <a:xfrm>
            <a:off x="6299200" y="42672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시나리오 검증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QA 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취소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정산 전 시나리오 전수 검증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성능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부하 튜닝 담당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대용량 트래픽 스트레스 테스트 및 튜닝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운영 전환 및 교육 지원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운영자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/CS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매뉴얼 제작 및 현장 교육</a:t>
            </a:r>
          </a:p>
        </p:txBody>
      </p:sp>
    </p:spTree>
    <p:extLst>
      <p:ext uri="{BB962C8B-B14F-4D97-AF65-F5344CB8AC3E}">
        <p14:creationId xmlns:p14="http://schemas.microsoft.com/office/powerpoint/2010/main" val="1107311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DADE4E-7958-2769-8FE4-418717D14C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6C3DDC-3BC8-1212-445A-7C832E09B02F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2C2AAB0-5D5C-9547-D9B2-EB0D15F96043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V.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사업 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DE3D2-DD49-7735-9848-08B00E16DAD6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5.3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품질 보증 및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단계 극한 테스트 전략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CB58DE8-2423-1041-62CD-568D6817FE1F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단위부터 통합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대용량 부하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보안 모의해킹까지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단계 무결점 테스트를 거쳐 오픈 결함을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0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건화합니다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267DB59-4640-A1F0-D9B2-3FA0580C7013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A745042-4B1A-7FCD-E608-1B618BD1C213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9CBE4-7496-CB40-92EB-5EE7575C0CA3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22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7561A4-631C-C105-CD6F-4E63A89973AA}"/>
              </a:ext>
            </a:extLst>
          </p:cNvPr>
          <p:cNvSpPr/>
          <p:nvPr/>
        </p:nvSpPr>
        <p:spPr>
          <a:xfrm>
            <a:off x="5080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76D052C-C89D-000C-EA83-0E4F0D9B5D85}"/>
              </a:ext>
            </a:extLst>
          </p:cNvPr>
          <p:cNvSpPr/>
          <p:nvPr/>
        </p:nvSpPr>
        <p:spPr>
          <a:xfrm>
            <a:off x="508000" y="1193800"/>
            <a:ext cx="2692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단계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단위 테스트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2CD85A-6F19-EACB-AF04-DC7C631A17D1}"/>
              </a:ext>
            </a:extLst>
          </p:cNvPr>
          <p:cNvSpPr txBox="1"/>
          <p:nvPr/>
        </p:nvSpPr>
        <p:spPr>
          <a:xfrm>
            <a:off x="6096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대상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핵심 비즈니스 로직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방식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JUnit 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자동화 도구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기준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코드 커버리지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85%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이상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검증 항목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수수료 계산 정확성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암복호화 무결성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멱등성 중복 방지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A2FAA00-A1B9-0340-1499-E9537A52BFA5}"/>
              </a:ext>
            </a:extLst>
          </p:cNvPr>
          <p:cNvSpPr/>
          <p:nvPr/>
        </p:nvSpPr>
        <p:spPr>
          <a:xfrm>
            <a:off x="33274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6C1CAB8-F9A3-5107-AD56-575D4AD9E3BB}"/>
              </a:ext>
            </a:extLst>
          </p:cNvPr>
          <p:cNvSpPr/>
          <p:nvPr/>
        </p:nvSpPr>
        <p:spPr>
          <a:xfrm>
            <a:off x="3327400" y="1193800"/>
            <a:ext cx="2692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단계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통합 테스트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FC7699-DD7B-F886-371A-4EC1E745D2AC}"/>
              </a:ext>
            </a:extLst>
          </p:cNvPr>
          <p:cNvSpPr txBox="1"/>
          <p:nvPr/>
        </p:nvSpPr>
        <p:spPr>
          <a:xfrm>
            <a:off x="34290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대상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E2E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 구간 연동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방식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실 연계망 시나리오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기준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시나리오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100%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통과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검증 항목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App -&gt;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계정계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-&gt; VAN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당일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부분 취소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네트워크 단절 시 망취소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D1EA565-D7E9-3F11-076C-68F3C2FAAD76}"/>
              </a:ext>
            </a:extLst>
          </p:cNvPr>
          <p:cNvSpPr/>
          <p:nvPr/>
        </p:nvSpPr>
        <p:spPr>
          <a:xfrm>
            <a:off x="61468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D652B00-DA0A-1317-4897-C5FA46FACEAC}"/>
              </a:ext>
            </a:extLst>
          </p:cNvPr>
          <p:cNvSpPr/>
          <p:nvPr/>
        </p:nvSpPr>
        <p:spPr>
          <a:xfrm>
            <a:off x="6146800" y="1193800"/>
            <a:ext cx="2692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단계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성능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부하 테스트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E2E8E6-247B-B1FB-B8E5-2E7AACBBC4A8}"/>
              </a:ext>
            </a:extLst>
          </p:cNvPr>
          <p:cNvSpPr txBox="1"/>
          <p:nvPr/>
        </p:nvSpPr>
        <p:spPr>
          <a:xfrm>
            <a:off x="62484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대상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승인 엔진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&amp; Gateway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방식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nGrinder / JMeter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평시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배 트래픽 처리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검증 항목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초당 목표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TPS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달성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응답 시간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&lt; 1.0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 보증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병목 구간 튜닝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A552266-B7BB-F6D1-1FE9-FE94166D740D}"/>
              </a:ext>
            </a:extLst>
          </p:cNvPr>
          <p:cNvSpPr/>
          <p:nvPr/>
        </p:nvSpPr>
        <p:spPr>
          <a:xfrm>
            <a:off x="89662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9E4AE32-63C7-3725-7D3E-ACE81B59630C}"/>
              </a:ext>
            </a:extLst>
          </p:cNvPr>
          <p:cNvSpPr/>
          <p:nvPr/>
        </p:nvSpPr>
        <p:spPr>
          <a:xfrm>
            <a:off x="8966200" y="1193800"/>
            <a:ext cx="2692400" cy="406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단계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보안성 테스트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66647A-AF9D-876D-DE27-B32542B03BCB}"/>
              </a:ext>
            </a:extLst>
          </p:cNvPr>
          <p:cNvSpPr txBox="1"/>
          <p:nvPr/>
        </p:nvSpPr>
        <p:spPr>
          <a:xfrm>
            <a:off x="90678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대상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전 시스템 및 모바일 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방식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정적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동적 분석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모의해킹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기준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심각도 상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중 취약점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0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건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검증 항목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  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소스코드 취약점 점검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모바일 앱 위변조 진단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침투 모의해킹 수행</a:t>
            </a:r>
          </a:p>
        </p:txBody>
      </p:sp>
    </p:spTree>
    <p:extLst>
      <p:ext uri="{BB962C8B-B14F-4D97-AF65-F5344CB8AC3E}">
        <p14:creationId xmlns:p14="http://schemas.microsoft.com/office/powerpoint/2010/main" val="2584868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893F4B-81E2-C25D-A147-F8532993AF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E83C8D-1143-DBAE-9E2F-CF41A5F69D5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403E543-96F0-E77A-0474-5C2DC2F9E00D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V.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사업 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A3FA0-C772-E264-CC58-D54129429C56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5.4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프로젝트 위험 관리 및 비상 대응 방안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E5C95E0-4A24-BBA1-C71A-A7DF06A6BE17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발생 가능한 리스크를 사전에 도출하고 선제적 대응 체계를 마련하여 무결점 프로젝트를 완수합니다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ADA71A9-83B3-3B25-9D56-E7350258A013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67A3A9-F82A-B51D-5479-49A38DFCC3B6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590D2-0D02-F13B-2EBD-198282D2E450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23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1E7132-67EF-B9A5-05C8-3870F72DFE39}"/>
              </a:ext>
            </a:extLst>
          </p:cNvPr>
          <p:cNvSpPr/>
          <p:nvPr/>
        </p:nvSpPr>
        <p:spPr>
          <a:xfrm>
            <a:off x="508000" y="11938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B790B88-06FF-24B1-0ACA-788DD9CFCE38}"/>
              </a:ext>
            </a:extLst>
          </p:cNvPr>
          <p:cNvSpPr/>
          <p:nvPr/>
        </p:nvSpPr>
        <p:spPr>
          <a:xfrm>
            <a:off x="508000" y="1193800"/>
            <a:ext cx="5486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외부 기관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(VAN/POS)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연계 지연 리스크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A5FA36-47C5-FC38-C706-DA476957F155}"/>
              </a:ext>
            </a:extLst>
          </p:cNvPr>
          <p:cNvSpPr txBox="1"/>
          <p:nvPr/>
        </p:nvSpPr>
        <p:spPr>
          <a:xfrm>
            <a:off x="609600" y="16764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위험 요소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기관별 전문 협의 지연 및 테스트 일정 차질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선제 대책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착수 즉시 사전 인터페이스 협의체 가동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비상 대책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가상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Mock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시뮬레이터를 조기 구축하여 내부 개발 선진행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7D8A8AD-5ED7-3F7B-F638-2B714B2BDAC3}"/>
              </a:ext>
            </a:extLst>
          </p:cNvPr>
          <p:cNvSpPr/>
          <p:nvPr/>
        </p:nvSpPr>
        <p:spPr>
          <a:xfrm>
            <a:off x="6197600" y="11938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C383CE4-9BAA-7533-5BDA-C4B432245917}"/>
              </a:ext>
            </a:extLst>
          </p:cNvPr>
          <p:cNvSpPr/>
          <p:nvPr/>
        </p:nvSpPr>
        <p:spPr>
          <a:xfrm>
            <a:off x="6197600" y="1193800"/>
            <a:ext cx="5486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요구사항 추가 및 변경 리스크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5ECEA0-D128-2657-43D3-C9AEDD404513}"/>
              </a:ext>
            </a:extLst>
          </p:cNvPr>
          <p:cNvSpPr txBox="1"/>
          <p:nvPr/>
        </p:nvSpPr>
        <p:spPr>
          <a:xfrm>
            <a:off x="6299200" y="16764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위험 요소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개발 범위 확대로 인한 오픈 일정 지연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선제 대책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착수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주 내 요구사항 확정 및 상세 동결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(Freeze)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비상 대책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변경 통제 위원회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(CCB)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를 통한 영향도 평가 및 일정 조정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D99FD84-02F7-CFF7-EA15-9E319583506A}"/>
              </a:ext>
            </a:extLst>
          </p:cNvPr>
          <p:cNvSpPr/>
          <p:nvPr/>
        </p:nvSpPr>
        <p:spPr>
          <a:xfrm>
            <a:off x="508000" y="37846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7520B13-506B-5084-B9A1-5CE32D14CD8A}"/>
              </a:ext>
            </a:extLst>
          </p:cNvPr>
          <p:cNvSpPr/>
          <p:nvPr/>
        </p:nvSpPr>
        <p:spPr>
          <a:xfrm>
            <a:off x="508000" y="3784600"/>
            <a:ext cx="5486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대용량 트래픽 병목 리스크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10A5BB-23D9-67CC-FAA6-635F88E11352}"/>
              </a:ext>
            </a:extLst>
          </p:cNvPr>
          <p:cNvSpPr txBox="1"/>
          <p:nvPr/>
        </p:nvSpPr>
        <p:spPr>
          <a:xfrm>
            <a:off x="609600" y="42672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위험 요소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이벤트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특정 시간대 결제 지연 및 타임아웃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선제 대책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마이크로서비스 독립 스케일아웃 및 캐싱 최적화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비상 대책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비상 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Throttling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및 유량 제어로 시스템 다운 방어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76B6D2A-E257-C102-EBFD-4C585F43CD99}"/>
              </a:ext>
            </a:extLst>
          </p:cNvPr>
          <p:cNvSpPr/>
          <p:nvPr/>
        </p:nvSpPr>
        <p:spPr>
          <a:xfrm>
            <a:off x="6197600" y="3784600"/>
            <a:ext cx="5486400" cy="246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E885D6F-26A4-B890-66AF-51CDB56D3B51}"/>
              </a:ext>
            </a:extLst>
          </p:cNvPr>
          <p:cNvSpPr/>
          <p:nvPr/>
        </p:nvSpPr>
        <p:spPr>
          <a:xfrm>
            <a:off x="6197600" y="3784600"/>
            <a:ext cx="5486400" cy="406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원장 불일치 및 정산 오차 리스크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884C3A-5693-47CE-7081-E978DBF9B2C1}"/>
              </a:ext>
            </a:extLst>
          </p:cNvPr>
          <p:cNvSpPr txBox="1"/>
          <p:nvPr/>
        </p:nvSpPr>
        <p:spPr>
          <a:xfrm>
            <a:off x="6299200" y="4267200"/>
            <a:ext cx="5283200" cy="606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위험 요소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통신 단절로 인한 출금 후 승인 미완료 등 불일치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선제 대책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2-Phase Commit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및 분산 트랜잭션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Saga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패턴 적용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비상 대책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실시간 자동 대사 데몬 가동 및 수동 즉시 보정 툴 완비</a:t>
            </a:r>
          </a:p>
        </p:txBody>
      </p:sp>
    </p:spTree>
    <p:extLst>
      <p:ext uri="{BB962C8B-B14F-4D97-AF65-F5344CB8AC3E}">
        <p14:creationId xmlns:p14="http://schemas.microsoft.com/office/powerpoint/2010/main" val="1219942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EE6397B-46D8-12C3-8352-232BEDB866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447F66-20F2-0E42-8BED-EBF5606D05C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AFCEE38-177E-67A5-401B-E28CAAFA1FD4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VI.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차별화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DD62E-6447-8CB4-FA94-6DC5D5F1D2FA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6.1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본 제안의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대 핵심 차별화 전략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FCA1A42-F682-B762-6D00-E051E5FBE318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금융 표준 안정성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무한 확장성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AI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기반 지능형 운영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최고 수준의 결제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UX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를 제공합니다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D63ADFC-3A98-9E9A-9714-33F470892981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4C37C0-36F2-CA01-F3EF-419A332F3974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5D73A-325D-6229-64F5-36BD676E3DE0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24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0204277-162C-B5E2-E545-191208256C0F}"/>
              </a:ext>
            </a:extLst>
          </p:cNvPr>
          <p:cNvSpPr/>
          <p:nvPr/>
        </p:nvSpPr>
        <p:spPr>
          <a:xfrm>
            <a:off x="5080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66F7647-CD8F-EDCF-0230-D711528BF2D7}"/>
              </a:ext>
            </a:extLst>
          </p:cNvPr>
          <p:cNvSpPr/>
          <p:nvPr/>
        </p:nvSpPr>
        <p:spPr>
          <a:xfrm>
            <a:off x="508000" y="1193800"/>
            <a:ext cx="26924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1. High Reliability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1960BB-F50C-F2DB-BE7C-89E84EFEABE1}"/>
              </a:ext>
            </a:extLst>
          </p:cNvPr>
          <p:cNvSpPr txBox="1"/>
          <p:nvPr/>
        </p:nvSpPr>
        <p:spPr>
          <a:xfrm>
            <a:off x="6096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 표준 고가용성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Active-Active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완전 이중화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99.999%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무중단 서비스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장애 발생 시 자동 격리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무중단 배포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(Zero-Downtime)</a:t>
            </a:r>
          </a:p>
          <a:p>
            <a:pPr>
              <a:lnSpc>
                <a:spcPct val="115000"/>
              </a:lnSpc>
            </a:pPr>
            <a:endParaRPr lang="en-US" altLang="ko-KR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▶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금융권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등 안정성 보장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0CC743F-B1B8-D814-5167-758F69179B37}"/>
              </a:ext>
            </a:extLst>
          </p:cNvPr>
          <p:cNvSpPr/>
          <p:nvPr/>
        </p:nvSpPr>
        <p:spPr>
          <a:xfrm>
            <a:off x="33274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6475920-2E85-E9DE-257C-169184A3AB90}"/>
              </a:ext>
            </a:extLst>
          </p:cNvPr>
          <p:cNvSpPr/>
          <p:nvPr/>
        </p:nvSpPr>
        <p:spPr>
          <a:xfrm>
            <a:off x="3327400" y="1193800"/>
            <a:ext cx="26924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2. Open Scalability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49D20-3426-A29C-5C92-C434A3526348}"/>
              </a:ext>
            </a:extLst>
          </p:cNvPr>
          <p:cNvSpPr txBox="1"/>
          <p:nvPr/>
        </p:nvSpPr>
        <p:spPr>
          <a:xfrm>
            <a:off x="34290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개방형 플랫폼 확장성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MSA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기반 유연한 구조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Open API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생태계 완비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오픈뱅킹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마이데이터 연계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신규 결제수단 즉시 탑재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▶ 미래 금융 확장 완벽 대응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CDFE538-DC91-CF6B-0A77-F74644AB365D}"/>
              </a:ext>
            </a:extLst>
          </p:cNvPr>
          <p:cNvSpPr/>
          <p:nvPr/>
        </p:nvSpPr>
        <p:spPr>
          <a:xfrm>
            <a:off x="61468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FEBCD2D-4F7A-8C23-C351-58ACEA32C5D2}"/>
              </a:ext>
            </a:extLst>
          </p:cNvPr>
          <p:cNvSpPr/>
          <p:nvPr/>
        </p:nvSpPr>
        <p:spPr>
          <a:xfrm>
            <a:off x="6146800" y="1193800"/>
            <a:ext cx="26924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3. Intelligent AI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F5CFCB-0E40-02D2-90F8-41494A3BA8D4}"/>
              </a:ext>
            </a:extLst>
          </p:cNvPr>
          <p:cNvSpPr txBox="1"/>
          <p:nvPr/>
        </p:nvSpPr>
        <p:spPr>
          <a:xfrm>
            <a:off x="62484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지능형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관제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&amp; FDS</a:t>
            </a:r>
          </a:p>
          <a:p>
            <a:pPr>
              <a:lnSpc>
                <a:spcPct val="115000"/>
              </a:lnSpc>
            </a:pP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■ AI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기반 결제 이상 패턴 탐지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장애 사전 예측 알림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운영 대시보드 자동화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고객 소비 패턴 분석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▶ 지능형 스마트 운영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C16C3E9-A3EE-BC42-2AC3-5A8B595F17AD}"/>
              </a:ext>
            </a:extLst>
          </p:cNvPr>
          <p:cNvSpPr/>
          <p:nvPr/>
        </p:nvSpPr>
        <p:spPr>
          <a:xfrm>
            <a:off x="8966200" y="1193800"/>
            <a:ext cx="26924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9863765-92C4-0B80-535A-C4E9FFC92AF2}"/>
              </a:ext>
            </a:extLst>
          </p:cNvPr>
          <p:cNvSpPr/>
          <p:nvPr/>
        </p:nvSpPr>
        <p:spPr>
          <a:xfrm>
            <a:off x="8966200" y="1193800"/>
            <a:ext cx="2692400" cy="406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4. Superior UX</a:t>
            </a:r>
            <a:endParaRPr lang="ko-KR" altLang="en-US" sz="11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CC448D-E588-3073-FB12-686602DCFD12}"/>
              </a:ext>
            </a:extLst>
          </p:cNvPr>
          <p:cNvSpPr txBox="1"/>
          <p:nvPr/>
        </p:nvSpPr>
        <p:spPr>
          <a:xfrm>
            <a:off x="9067800" y="1676400"/>
            <a:ext cx="2489200" cy="1314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초간편 사용자 결제 경험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 컷 초고속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QR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생체인증 원클릭 승인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직관적인 결제 내역 관리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이탈률 최소화 결제 여정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▶ 고객 만족도 극대화</a:t>
            </a:r>
          </a:p>
        </p:txBody>
      </p:sp>
    </p:spTree>
    <p:extLst>
      <p:ext uri="{BB962C8B-B14F-4D97-AF65-F5344CB8AC3E}">
        <p14:creationId xmlns:p14="http://schemas.microsoft.com/office/powerpoint/2010/main" val="1766525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83E6E1-D767-15A7-F28E-707CC00E47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0180B6-761E-DE40-3826-EACD0D5799C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D3C7B2A-B701-F2C4-5D9E-64E3A197BC94}"/>
              </a:ext>
            </a:extLst>
          </p:cNvPr>
          <p:cNvSpPr/>
          <p:nvPr/>
        </p:nvSpPr>
        <p:spPr>
          <a:xfrm>
            <a:off x="508000" y="228600"/>
            <a:ext cx="1524000" cy="3048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VI. </a:t>
            </a:r>
            <a:r>
              <a:rPr lang="ko-KR" altLang="en-US" sz="1000" b="1">
                <a:solidFill>
                  <a:srgbClr val="FFBC00"/>
                </a:solidFill>
                <a:latin typeface="Malgun Gothic" panose="020B0503020000020004" pitchFamily="50" charset="-127"/>
              </a:rPr>
              <a:t>기대효과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DE831-C0DD-F3F2-05CB-64E742061387}"/>
              </a:ext>
            </a:extLst>
          </p:cNvPr>
          <p:cNvSpPr txBox="1"/>
          <p:nvPr/>
        </p:nvSpPr>
        <p:spPr>
          <a:xfrm>
            <a:off x="2159000" y="190500"/>
            <a:ext cx="952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6.2 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정량적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정성적 기대효과 </a:t>
            </a:r>
            <a:r>
              <a:rPr lang="en-US" altLang="ko-KR" sz="1700" b="1">
                <a:solidFill>
                  <a:srgbClr val="0F172A"/>
                </a:solidFill>
                <a:latin typeface="Malgun Gothic" panose="020B0503020000020004" pitchFamily="50" charset="-127"/>
              </a:rPr>
              <a:t>(Value Proposition)</a:t>
            </a:r>
            <a:endParaRPr lang="ko-KR" altLang="en-US" sz="1700" b="1">
              <a:solidFill>
                <a:srgbClr val="0F17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BC2A9C1-AEF9-076B-C0C1-C443270AC958}"/>
              </a:ext>
            </a:extLst>
          </p:cNvPr>
          <p:cNvSpPr/>
          <p:nvPr/>
        </p:nvSpPr>
        <p:spPr>
          <a:xfrm>
            <a:off x="508000" y="635000"/>
            <a:ext cx="11176000" cy="406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  고객 경험 혁신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결제 원가 절감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플랫폼 활성화로 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금융그룹의 디지털 경쟁력을 완성합니다</a:t>
            </a:r>
            <a:r>
              <a:rPr lang="en-US" altLang="ko-KR" sz="1050" b="1">
                <a:solidFill>
                  <a:srgbClr val="4A3C31"/>
                </a:solidFill>
                <a:latin typeface="Malgun Gothic" panose="020B0503020000020004" pitchFamily="50" charset="-127"/>
              </a:rPr>
              <a:t>.</a:t>
            </a:r>
            <a:endParaRPr lang="ko-KR" altLang="en-US" sz="105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E9D4192-89BF-F2AF-3692-EEFD91E7FDF5}"/>
              </a:ext>
            </a:extLst>
          </p:cNvPr>
          <p:cNvCxnSpPr/>
          <p:nvPr/>
        </p:nvCxnSpPr>
        <p:spPr>
          <a:xfrm>
            <a:off x="508000" y="6451600"/>
            <a:ext cx="11176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3CA573-10E8-5C89-E014-BCAB7BE72157}"/>
              </a:ext>
            </a:extLst>
          </p:cNvPr>
          <p:cNvSpPr txBox="1"/>
          <p:nvPr/>
        </p:nvSpPr>
        <p:spPr>
          <a:xfrm>
            <a:off x="508000" y="6477000"/>
            <a:ext cx="635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스타플랫폼 자체페이 구축 사업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○○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주식회사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1EA59-6DF7-88DF-1982-AB4BA27EA209}"/>
              </a:ext>
            </a:extLst>
          </p:cNvPr>
          <p:cNvSpPr txBox="1"/>
          <p:nvPr/>
        </p:nvSpPr>
        <p:spPr>
          <a:xfrm>
            <a:off x="10922000" y="6477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900" b="1">
                <a:solidFill>
                  <a:srgbClr val="64748B"/>
                </a:solidFill>
                <a:latin typeface="Malgun Gothic" panose="020B0503020000020004" pitchFamily="50" charset="-127"/>
              </a:rPr>
              <a:t>25</a:t>
            </a:r>
            <a:endParaRPr lang="ko-KR" altLang="en-US" sz="900" b="1">
              <a:solidFill>
                <a:srgbClr val="64748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946290-DA03-B6DF-A902-BD139FC1F98C}"/>
              </a:ext>
            </a:extLst>
          </p:cNvPr>
          <p:cNvSpPr/>
          <p:nvPr/>
        </p:nvSpPr>
        <p:spPr>
          <a:xfrm>
            <a:off x="5080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78CF1FD-A2D8-4930-D806-E58EC0B2A472}"/>
              </a:ext>
            </a:extLst>
          </p:cNvPr>
          <p:cNvSpPr/>
          <p:nvPr/>
        </p:nvSpPr>
        <p:spPr>
          <a:xfrm>
            <a:off x="508000" y="1193800"/>
            <a:ext cx="3619500" cy="406400"/>
          </a:xfrm>
          <a:prstGeom prst="roundRect">
            <a:avLst/>
          </a:prstGeom>
          <a:solidFill>
            <a:srgbClr val="4A3C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고객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(Customer)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가치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061E7-13C3-2784-1E5D-0C225CF4EA7D}"/>
              </a:ext>
            </a:extLst>
          </p:cNvPr>
          <p:cNvSpPr txBox="1"/>
          <p:nvPr/>
        </p:nvSpPr>
        <p:spPr>
          <a:xfrm>
            <a:off x="609600" y="1676400"/>
            <a:ext cx="3416300" cy="1491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압도적인 결제 편의성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별도 카드 등록 없는 본인 계좌 기반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초 결제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철저한 금융 보안 신뢰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 보안 체계 기반으로 부정 결제 걱정 제로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결제 혜택 체감 극대화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계좌 결제 연계 포인트 및 맞춤형 금융 혜택 제공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9732089-DDDB-6438-210F-A6A2843B657E}"/>
              </a:ext>
            </a:extLst>
          </p:cNvPr>
          <p:cNvSpPr/>
          <p:nvPr/>
        </p:nvSpPr>
        <p:spPr>
          <a:xfrm>
            <a:off x="42799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5429564-87D3-734E-55DF-A62373BBD7FD}"/>
              </a:ext>
            </a:extLst>
          </p:cNvPr>
          <p:cNvSpPr/>
          <p:nvPr/>
        </p:nvSpPr>
        <p:spPr>
          <a:xfrm>
            <a:off x="4279900" y="1193800"/>
            <a:ext cx="3619500" cy="4064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KB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금융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(Platform)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가치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15BED8-1F81-DA05-D386-F2C56176B85F}"/>
              </a:ext>
            </a:extLst>
          </p:cNvPr>
          <p:cNvSpPr txBox="1"/>
          <p:nvPr/>
        </p:nvSpPr>
        <p:spPr>
          <a:xfrm>
            <a:off x="4381500" y="1676400"/>
            <a:ext cx="3416300" cy="1668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결제 수수료 원가 대폭 절감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카드사 수수료 대비 직불 계좌 결제를 통한 비용 절감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독자적 결제 데이터 확보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결제 내역 분석을 통한 맞춤형 대출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적금 상품 추천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고객 락인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(Lock-in)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극대화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스타플랫폼 체류 시간 및 월간 활성 사용자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(MAU)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증대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BACE6CF-4355-EF9D-387C-AD4729B1989B}"/>
              </a:ext>
            </a:extLst>
          </p:cNvPr>
          <p:cNvSpPr/>
          <p:nvPr/>
        </p:nvSpPr>
        <p:spPr>
          <a:xfrm>
            <a:off x="8051800" y="1193800"/>
            <a:ext cx="3619500" cy="505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A08E67C-72FA-FAE5-3576-0E0E38AC9E82}"/>
              </a:ext>
            </a:extLst>
          </p:cNvPr>
          <p:cNvSpPr/>
          <p:nvPr/>
        </p:nvSpPr>
        <p:spPr>
          <a:xfrm>
            <a:off x="8051800" y="1193800"/>
            <a:ext cx="3619500" cy="4064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 사업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생태계</a:t>
            </a:r>
            <a:r>
              <a:rPr lang="en-US" altLang="ko-KR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(Business) </a:t>
            </a:r>
            <a:r>
              <a:rPr lang="ko-KR" altLang="en-US" sz="1150" b="1">
                <a:solidFill>
                  <a:srgbClr val="FFFFFF"/>
                </a:solidFill>
                <a:latin typeface="Malgun Gothic" panose="020B0503020000020004" pitchFamily="50" charset="-127"/>
              </a:rPr>
              <a:t>가치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9F350C-8165-810B-DED4-DD8905574B87}"/>
              </a:ext>
            </a:extLst>
          </p:cNvPr>
          <p:cNvSpPr txBox="1"/>
          <p:nvPr/>
        </p:nvSpPr>
        <p:spPr>
          <a:xfrm>
            <a:off x="8153400" y="1676400"/>
            <a:ext cx="3416300" cy="1491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신규 비즈니스 모델 창출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가맹점 제휴 마케팅 및 오프라인 결제 인프라 장악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오픈 플랫폼 확장성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향후 디지털 자산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해외 결제 등으로 원활한 확장</a:t>
            </a:r>
          </a:p>
          <a:p>
            <a:pPr>
              <a:lnSpc>
                <a:spcPct val="115000"/>
              </a:lnSpc>
            </a:pPr>
            <a:endParaRPr lang="ko-KR" altLang="en-US" sz="1000">
              <a:solidFill>
                <a:srgbClr val="334155"/>
              </a:solidFill>
              <a:latin typeface="Malgun Gothic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■ 그룹 시너지 강화</a:t>
            </a:r>
          </a:p>
          <a:p>
            <a:pPr>
              <a:lnSpc>
                <a:spcPct val="115000"/>
              </a:lnSpc>
            </a:pP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은행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증권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카드 등 </a:t>
            </a:r>
            <a:r>
              <a:rPr lang="en-US" altLang="ko-KR" sz="1000">
                <a:solidFill>
                  <a:srgbClr val="334155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1000">
                <a:solidFill>
                  <a:srgbClr val="334155"/>
                </a:solidFill>
                <a:latin typeface="Malgun Gothic" panose="020B0503020000020004" pitchFamily="50" charset="-127"/>
              </a:rPr>
              <a:t>금융 계열사 서비스 연계</a:t>
            </a:r>
          </a:p>
        </p:txBody>
      </p:sp>
    </p:spTree>
    <p:extLst>
      <p:ext uri="{BB962C8B-B14F-4D97-AF65-F5344CB8AC3E}">
        <p14:creationId xmlns:p14="http://schemas.microsoft.com/office/powerpoint/2010/main" val="625833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1FC650-B945-D320-3A3E-66407D4CE6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0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74A6CE-EF6D-3EBE-7910-3DA7BFB08B91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54E26-98C5-E91E-0576-1A7F8BED1166}"/>
              </a:ext>
            </a:extLst>
          </p:cNvPr>
          <p:cNvSpPr txBox="1"/>
          <p:nvPr/>
        </p:nvSpPr>
        <p:spPr>
          <a:xfrm>
            <a:off x="1270000" y="1778000"/>
            <a:ext cx="9652000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당사는 </a:t>
            </a:r>
            <a:r>
              <a:rPr lang="en-US" altLang="ko-KR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KB</a:t>
            </a:r>
            <a:r>
              <a:rPr lang="ko-KR" altLang="en-US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스타플랫폼 자체페이 서비스를</a:t>
            </a:r>
          </a:p>
          <a:p>
            <a:pPr algn="ctr"/>
            <a:r>
              <a:rPr lang="ko-KR" altLang="en-US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단순 결제 시스템이 아닌</a:t>
            </a:r>
            <a:r>
              <a:rPr lang="en-US" altLang="ko-KR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,</a:t>
            </a:r>
          </a:p>
          <a:p>
            <a:pPr algn="ctr"/>
            <a:r>
              <a:rPr lang="en-US" altLang="ko-KR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KB </a:t>
            </a:r>
            <a:r>
              <a:rPr lang="ko-KR" altLang="en-US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금융 생태계를 연결하는</a:t>
            </a:r>
          </a:p>
          <a:p>
            <a:pPr algn="ctr"/>
            <a:r>
              <a:rPr lang="ko-KR" altLang="en-US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차세대 디지털 결제 플랫폼으로 완성하겠습니다</a:t>
            </a:r>
            <a:r>
              <a:rPr lang="en-US" altLang="ko-KR" sz="22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22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F50E3F9-CAC7-3A71-1FC1-6515CC87B82E}"/>
              </a:ext>
            </a:extLst>
          </p:cNvPr>
          <p:cNvSpPr/>
          <p:nvPr/>
        </p:nvSpPr>
        <p:spPr>
          <a:xfrm>
            <a:off x="4191000" y="4572000"/>
            <a:ext cx="3810000" cy="635000"/>
          </a:xfrm>
          <a:prstGeom prst="roundRect">
            <a:avLst/>
          </a:prstGeom>
          <a:solidFill>
            <a:srgbClr val="FFB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4A3C31"/>
                </a:solidFill>
                <a:latin typeface="Malgun Gothic" panose="020B0503020000020004" pitchFamily="50" charset="-127"/>
              </a:rPr>
              <a:t>경청해 주셔서 감사합니다 </a:t>
            </a:r>
            <a:r>
              <a:rPr lang="en-US" altLang="ko-KR" sz="1400" b="1">
                <a:solidFill>
                  <a:srgbClr val="4A3C31"/>
                </a:solidFill>
                <a:latin typeface="Malgun Gothic" panose="020B0503020000020004" pitchFamily="50" charset="-127"/>
              </a:rPr>
              <a:t>(Q &amp; A)</a:t>
            </a:r>
            <a:endParaRPr lang="ko-KR" altLang="en-US" sz="1400" b="1">
              <a:solidFill>
                <a:srgbClr val="4A3C31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2838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4996</Words>
  <Application>Microsoft Office PowerPoint</Application>
  <PresentationFormat>사용자 지정</PresentationFormat>
  <Paragraphs>723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 kim</dc:creator>
  <cp:lastModifiedBy>ks kim</cp:lastModifiedBy>
  <cp:revision>1</cp:revision>
  <dcterms:created xsi:type="dcterms:W3CDTF">2026-09-14T04:12:23Z</dcterms:created>
  <dcterms:modified xsi:type="dcterms:W3CDTF">2026-09-14T04:12:24Z</dcterms:modified>
</cp:coreProperties>
</file>